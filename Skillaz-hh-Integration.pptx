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05eb8971a7405a" /><Relationship Type="http://schemas.openxmlformats.org/officeDocument/2006/relationships/extended-properties" Target="/docProps/app.xml" Id="Rdf2d39c99ae846a8" /><Relationship Type="http://schemas.openxmlformats.org/officeDocument/2006/relationships/officeDocument" Target="/ppt/presentation.xml" Id="R803fa793d7664e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7f2c14ae974cfb"/>
  </p:sldMasterIdLst>
  <p:notesMasterIdLst>
    <p:notesMasterId xmlns:r="http://schemas.openxmlformats.org/officeDocument/2006/relationships" r:id="Rdba5a264c1b341cf"/>
  </p:notesMasterIdLst>
  <p:sldIdLst>
    <p:sldId xmlns:r="http://schemas.openxmlformats.org/officeDocument/2006/relationships" id="256" r:id="R92439d5e70924068"/>
    <p:sldId xmlns:r="http://schemas.openxmlformats.org/officeDocument/2006/relationships" id="257" r:id="R280a4c424c864b5e"/>
    <p:sldId xmlns:r="http://schemas.openxmlformats.org/officeDocument/2006/relationships" id="258" r:id="Rabb4b10347e94a10"/>
    <p:sldId xmlns:r="http://schemas.openxmlformats.org/officeDocument/2006/relationships" id="259" r:id="R6500e320098b48ff"/>
    <p:sldId xmlns:r="http://schemas.openxmlformats.org/officeDocument/2006/relationships" id="260" r:id="Rf3ee07fbee9a4e35"/>
    <p:sldId xmlns:r="http://schemas.openxmlformats.org/officeDocument/2006/relationships" id="261" r:id="R137de607918948d4"/>
    <p:sldId xmlns:r="http://schemas.openxmlformats.org/officeDocument/2006/relationships" id="262" r:id="Rcaa556f0b2ae44db"/>
    <p:sldId xmlns:r="http://schemas.openxmlformats.org/officeDocument/2006/relationships" id="263" r:id="R23c522181f034c12"/>
    <p:sldId xmlns:r="http://schemas.openxmlformats.org/officeDocument/2006/relationships" id="264" r:id="Rab0346e111974aa5"/>
    <p:sldId xmlns:r="http://schemas.openxmlformats.org/officeDocument/2006/relationships" id="265" r:id="Rc7740d039bc242f6"/>
  </p:sldIdLst>
  <p:sldSz cx="10692384" cy="6007608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40e31bea324139" /><Relationship Type="http://schemas.openxmlformats.org/officeDocument/2006/relationships/slideMaster" Target="/ppt/slideMasters/slideMaster1.xml" Id="R9b7f2c14ae974cfb" /><Relationship Type="http://schemas.openxmlformats.org/officeDocument/2006/relationships/notesMaster" Target="/ppt/notesMasters/notesMaster1.xml" Id="Rdba5a264c1b341cf" /><Relationship Type="http://schemas.openxmlformats.org/officeDocument/2006/relationships/presProps" Target="/ppt/presProps.xml" Id="Rbda07473554c40eb" /><Relationship Type="http://schemas.openxmlformats.org/officeDocument/2006/relationships/tableStyles" Target="/ppt/tableStyles.xml" Id="R8b3496544b704d3f" /><Relationship Type="http://schemas.openxmlformats.org/officeDocument/2006/relationships/slide" Target="/ppt/slides/slide1.xml" Id="R92439d5e70924068" /><Relationship Type="http://schemas.openxmlformats.org/officeDocument/2006/relationships/slide" Target="/ppt/slides/slide2.xml" Id="R280a4c424c864b5e" /><Relationship Type="http://schemas.openxmlformats.org/officeDocument/2006/relationships/slide" Target="/ppt/slides/slide3.xml" Id="Rabb4b10347e94a10" /><Relationship Type="http://schemas.openxmlformats.org/officeDocument/2006/relationships/slide" Target="/ppt/slides/slide4.xml" Id="R6500e320098b48ff" /><Relationship Type="http://schemas.openxmlformats.org/officeDocument/2006/relationships/slide" Target="/ppt/slides/slide5.xml" Id="Rf3ee07fbee9a4e35" /><Relationship Type="http://schemas.openxmlformats.org/officeDocument/2006/relationships/slide" Target="/ppt/slides/slide6.xml" Id="R137de607918948d4" /><Relationship Type="http://schemas.openxmlformats.org/officeDocument/2006/relationships/slide" Target="/ppt/slides/slide7.xml" Id="Rcaa556f0b2ae44db" /><Relationship Type="http://schemas.openxmlformats.org/officeDocument/2006/relationships/slide" Target="/ppt/slides/slide8.xml" Id="R23c522181f034c12" /><Relationship Type="http://schemas.openxmlformats.org/officeDocument/2006/relationships/slide" Target="/ppt/slides/slide9.xml" Id="Rab0346e111974aa5" /><Relationship Type="http://schemas.openxmlformats.org/officeDocument/2006/relationships/slide" Target="/ppt/slides/slide10.xml" Id="Rc7740d039bc242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bcb2a0c1864b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e18d34394d45d4" /><Relationship Type="http://schemas.openxmlformats.org/officeDocument/2006/relationships/notesMaster" Target="/ppt/notesMasters/notesMaster1.xml" Id="Re4f0694c9ab841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d088359ba14721" /><Relationship Type="http://schemas.openxmlformats.org/officeDocument/2006/relationships/notesMaster" Target="/ppt/notesMasters/notesMaster1.xml" Id="R200b14fd01074e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1192e165da4109" /><Relationship Type="http://schemas.openxmlformats.org/officeDocument/2006/relationships/notesMaster" Target="/ppt/notesMasters/notesMaster1.xml" Id="Ra2d8d424638a49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63f626608640f7" /><Relationship Type="http://schemas.openxmlformats.org/officeDocument/2006/relationships/notesMaster" Target="/ppt/notesMasters/notesMaster1.xml" Id="R660be1bf0ecb49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6aff5341e84637" /><Relationship Type="http://schemas.openxmlformats.org/officeDocument/2006/relationships/notesMaster" Target="/ppt/notesMasters/notesMaster1.xml" Id="R778da83e244a430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50acf3c83ea4c57" /><Relationship Type="http://schemas.openxmlformats.org/officeDocument/2006/relationships/notesMaster" Target="/ppt/notesMasters/notesMaster1.xml" Id="Rdaccbb17cd99444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e656045a7ff40fb" /><Relationship Type="http://schemas.openxmlformats.org/officeDocument/2006/relationships/notesMaster" Target="/ppt/notesMasters/notesMaster1.xml" Id="Raf2d12f9d9ef4dd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c6af507f2324040" /><Relationship Type="http://schemas.openxmlformats.org/officeDocument/2006/relationships/notesMaster" Target="/ppt/notesMasters/notesMaster1.xml" Id="R50c37b352fb24f0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6ee41ff812438f" /><Relationship Type="http://schemas.openxmlformats.org/officeDocument/2006/relationships/notesMaster" Target="/ppt/notesMasters/notesMaster1.xml" Id="R39ea78da59a3468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9aef96d76644d9f" /><Relationship Type="http://schemas.openxmlformats.org/officeDocument/2006/relationships/notesMaster" Target="/ppt/notesMasters/notesMaster1.xml" Id="R7bc6c53a1dba49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Позиционирование: публичная документация описывает получение результатов ИИ, но не подтверждает готовую интеграцию Skillaz. Проверить токен приложения Skillaz, доступ клиента, наличие ai_assistant в реальном отклике и продуктовый релиз. Не обещать работу в карточке до проверки.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Подтверждены примеры данных neuro_response и neuro_invite. Блок найден в examples; подробной схемы ai_assistant в проверенной спецификации нет. Нужны реальные ответы API, перечень значений, nullable-поля и условия появления блока. Сокращение ручных действий — гипотеза пилота.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Таблица отражает только поля официального примера API. Требуют проверки: показ результата в воронке Skillaz, работа с категориями, отображение подробного разбора, привязка вопросов к полям и автоматическое заполнение карточки. Цитата ответа в API не равна готовому структурированному полю Skillaz.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Польза сформулирована как назначение данных, не как измеренный эффект. В примерах API есть decision, summary, criteria с explanation/source и вопросы с цитатами ответов. Использование этих данных в Skillaz требует проверки обмена. Доопрос помогает подготовиться только при наличии ответов кандидата.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НЕПОДТВЕРЖДЁННЫЕ ВОЗМОЖНОСТИ: настройка критериев и включение ИИ из Skillaz; запуск доопроса и управление вопросами через API; повторный разбор; получение уведомлений об изменении результатов. Публичные методы управления этими функциями не найдены. Отсутствие в публичной документации не исключает партнёрский API. Проверить периодичность обновлений и условия доступа.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Скриншот сохранён из исходного PDF, слайд 6, как иллюстрация, а не свидетельство проверенной интеграции. Проверить наличие фильтров, счётчиков, названия категорий и сопоставление decision со статусами Skillaz. Не интерпретировать ACCEPT из примера как полный перечень категорий.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Диалог на слайде иллюстративный. Подтверждены question и quote в answers_to_questions_from_employer. Требуют проверки: запуск доопроса из Skillaz, настройка вопросов через API, автоматическое заполнение полей, типизация ответов, разбор неоднозначных ответов, обработка пропусков и повторных ответов.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Скриншот сохранён из исходного PDF, слайд 11. Подтверждены поля критериев is_met, explanation, source. Требуют проверки: ручная смена категории в Skillaz; синхронизация с hh; сохранение ручного решения после повторного анализа; журнал изменений, права и типы событий. Схема истории изменений удалена из основного содержания.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Это план пилота, а не подтверждённый эффект. После технической проверки сравнить сопоставимые вакансии и нагрузку: работа с ИИ непосредственно в hh.ru и через Skillaz. Не приписывать интеграции общий эффект ИИ. Сэкономленные часы не равны гарантированному сокращению расходов.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Слайд 8 заменён с методики пилота на явную таблицу границ подтверждения. Получение данных приложением Skillaz требует проверки; методов управления через публичный API не обнаружено.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НЕПОДТВЕРЖДЁННЫЕ УСЛОВИЯ ОПЛАТЫ: стоимость доступа к ИИ и API hh, входит ли она в тариф Skillaz, учёт уже оплаченных услуг hh, единица тарификации, лимиты, превышения, оплата доопроса, внедрение, сопровождение, SLA. Разделение на внедрение/использование/сопровождение было гипотезой предложения, не утверждённым тарифом. Условия оплаты не вынесены на слайд.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Слайд 9 показывает предлагаемый вариант, а не готовые возможности Skillaz. Запрос по ID отклика не содержит текст резюме; полученные данные и сам идентификатор не следует считать автоматически обезличенными. Отображение оценки и ответов в карточке требует реализации и проверки.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Предлагаемое позиционирование: клиент оплачивает использование результатов hh в рабочем процессе Skillaz. Это не утверждённый тариф или перечень уже реализованных функций. Требуют проверки получение данных, привязка к отклику и вакансии, состав отображения, обновление и доступ клиента. Условия оплаты, включение услуг hh, внедрение, сопровождение и SLA согласуются отдельно. Возможное сокращение переходов и копирования является гипотезой, не обещанием экономии.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ПРОВЕРКА API, 16.10.2026. Источники: https://api.hh.ru/openapi/specification/public ; https://api.hh.ru/openapi/redoc#tag/Otklikipriglasheniya-rabotodatelya/operation/get-negotiation-item . В официальных примерах GET /negotiations/{id} и списка откликов есть ai_assistant.neuro_response и ai_assistant.neuro_invite. Реальный авторизованный запрос от Skillaz не выполнялся; доступность для конкретного клиента, полнота, гарантии и условия оплаты не подтверждены. Источник экранов: предоставленный Presentation-Razbor-Doopros.pdf.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Перед пилотом: получить реальный отклик с завершённым разбором и доопросом, выполнить GET /negotiations/{id} от приложения Skillaz, проверить ai_assistant и сопоставление данных. Запросить у hh документацию партнёрских методов, права, ограничения и коммерческие условия. Сроки, цена пилота, объём, ответственность и критерии приёмки не подтверждены.</a:t>
            </a:r>
          </a:p>
          <a:p xmlns:a="http://schemas.openxmlformats.org/drawingml/2006/main">
            <a:r>
              <a:t>Уточнения по документации hh: https://feedback.hh.ru/knowledge-base/article/033748 ; https://feedback.hh.ru/knowledge-base/article/022833 . Помощник подключается к конкретной вакансии; оба навыка включены по умолчанию. Критерии редактируемые, не закрытый справочник. 6 обязательных и 4 желательных — автоматическое выделение, не подтверждённый жёсткий лимит. При изменении портрета — переразбор с исключениями для некоторых статусов, включая ручной отказ. Доопрос касается новых откликов, не гарантирован каждому кандидату; до 3 своих вопросов, до 5 всего по инструкции. Запрос API получает результат, не запускает оценку.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Пилот сравнивает работу с ИИ непосредственно в hh и с теми же результатами через Skillaz на сопоставимых вакансиях и нагрузке. Отдельно учитывать время проверки выводов и исправлений. Не приписывать интеграции общий эффект ИИ hh. Замерять время первичного рассмотрения, число переходов и объём ручного переноса. Не обещать проценты экономии, ускорение найма или снижение затрат без измерений.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151916b1f4438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b04baec6e54d8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1e33f0a53e441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6d6c8a5664493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154a25915540f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ac32bebc7b4b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0CBDAEE-428C-4A5A-95F8-CFB4E8D373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69238" y="2269541"/>
            <a:ext cx="8553907" cy="8677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4C0C9BB-23D4-431A-B126-E0E4ACF3FFF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603858" y="3304184"/>
            <a:ext cx="7484669" cy="667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84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6D1EA03-FC33-4794-B1AE-596382346A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69238" y="2503170"/>
            <a:ext cx="8553907" cy="1001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9C396E3-2BAF-4CF6-B7C9-D02A5F943B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1447" y="467258"/>
            <a:ext cx="9489491" cy="734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9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111C37A-0141-42E0-9506-2F3B33054A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1447" y="1668780"/>
            <a:ext cx="9489491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7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2DF3DC3-64B5-473D-BB3D-0C532FD593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1447" y="467258"/>
            <a:ext cx="9489491" cy="734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9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F3A26D7-B643-451C-AC2F-2101F0E099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1447" y="1668780"/>
            <a:ext cx="4410608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4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2A01FAD-5130-475B-A2DA-12FD3DD2E83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680329" y="1668780"/>
            <a:ext cx="4410608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4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4DF071-489D-4D33-BA7E-54F4618D36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1447" y="467258"/>
            <a:ext cx="9489491" cy="734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9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D94EF84-DF09-4096-BB54-6A6110628F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1447" y="1668780"/>
            <a:ext cx="4410608" cy="37380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7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0254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1pPr>
            <a:lvl2pPr marL="46725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2pPr>
            <a:lvl3pPr marL="73426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3pPr>
            <a:lvl4pPr marL="100126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4pPr>
            <a:lvl5pPr marL="1268273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5pPr>
            <a:lvl6pPr marL="1535278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6pPr>
            <a:lvl7pPr marL="180228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7pPr>
            <a:lvl8pPr marL="2069287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8pPr>
            <a:lvl9pPr marL="2336292" indent="-200254">
              <a:lnSpc>
                <a:spcPct val="110000"/>
              </a:lnSpc>
              <a:spcBef>
                <a:spcPts val="0"/>
              </a:spcBef>
              <a:spcAft>
                <a:spcPts val="1051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8e4d0f2e4545e3" /><Relationship Type="http://schemas.openxmlformats.org/officeDocument/2006/relationships/slideLayout" Target="/ppt/slideLayouts/slideLayout1.xml" Id="Rc448b1be9487452d" /><Relationship Type="http://schemas.openxmlformats.org/officeDocument/2006/relationships/slideLayout" Target="/ppt/slideLayouts/slideLayout2.xml" Id="Rcddf079f1f564ae1" /><Relationship Type="http://schemas.openxmlformats.org/officeDocument/2006/relationships/slideLayout" Target="/ppt/slideLayouts/slideLayout3.xml" Id="Rfaf7724d19bf4956" /><Relationship Type="http://schemas.openxmlformats.org/officeDocument/2006/relationships/slideLayout" Target="/ppt/slideLayouts/slideLayout4.xml" Id="R16155753913c4bbd" /><Relationship Type="http://schemas.openxmlformats.org/officeDocument/2006/relationships/slideLayout" Target="/ppt/slideLayouts/slideLayout5.xml" Id="Rdb92c6ece0b44332" /><Relationship Type="http://schemas.openxmlformats.org/officeDocument/2006/relationships/slideLayout" Target="/ppt/slideLayouts/slideLayout6.xml" Id="R83149f7faac746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48b1be9487452d"/>
    <p:sldLayoutId xmlns:r="http://schemas.openxmlformats.org/officeDocument/2006/relationships" id="2147483650" r:id="Rcddf079f1f564ae1"/>
    <p:sldLayoutId xmlns:r="http://schemas.openxmlformats.org/officeDocument/2006/relationships" id="2147483651" r:id="Rfaf7724d19bf4956"/>
    <p:sldLayoutId xmlns:r="http://schemas.openxmlformats.org/officeDocument/2006/relationships" id="2147483652" r:id="R16155753913c4bbd"/>
    <p:sldLayoutId xmlns:r="http://schemas.openxmlformats.org/officeDocument/2006/relationships" id="2147483653" r:id="Rdb92c6ece0b44332"/>
    <p:sldLayoutId xmlns:r="http://schemas.openxmlformats.org/officeDocument/2006/relationships" id="2147483654" r:id="R83149f7faac746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86f4a5823c4a62" /><Relationship Type="http://schemas.openxmlformats.org/officeDocument/2006/relationships/image" Target="/ppt/media/image.png" Id="R2be1080710a54e04" /><Relationship Type="http://schemas.openxmlformats.org/officeDocument/2006/relationships/notesSlide" Target="/ppt/notesSlides/notesSlide1.xml" Id="R53595868d5294f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62741b74d84124" /><Relationship Type="http://schemas.openxmlformats.org/officeDocument/2006/relationships/image" Target="/ppt/media/image2.png" Id="Rdafd1c96a1d849ca" /><Relationship Type="http://schemas.openxmlformats.org/officeDocument/2006/relationships/notesSlide" Target="/ppt/notesSlides/notesSlide2.xml" Id="R14c064fb826b46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4709ec9f9c45f4" /><Relationship Type="http://schemas.openxmlformats.org/officeDocument/2006/relationships/image" Target="/ppt/media/image3.png" Id="R94754869789d47fc" /><Relationship Type="http://schemas.openxmlformats.org/officeDocument/2006/relationships/notesSlide" Target="/ppt/notesSlides/notesSlide3.xml" Id="Rc7bd613d7b3b48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d9cb226fbc493b" /><Relationship Type="http://schemas.openxmlformats.org/officeDocument/2006/relationships/image" Target="/ppt/media/image4.png" Id="R5bed6b8873e24e64" /><Relationship Type="http://schemas.openxmlformats.org/officeDocument/2006/relationships/notesSlide" Target="/ppt/notesSlides/notesSlide4.xml" Id="Rc93c08e038ad42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e6692b95d24f1d" /><Relationship Type="http://schemas.openxmlformats.org/officeDocument/2006/relationships/image" Target="/ppt/media/image5.png" Id="R92da2a13db934269" /><Relationship Type="http://schemas.openxmlformats.org/officeDocument/2006/relationships/image" Target="/ppt/media/image6.png" Id="R12e604c484324d3a" /><Relationship Type="http://schemas.openxmlformats.org/officeDocument/2006/relationships/notesSlide" Target="/ppt/notesSlides/notesSlide5.xml" Id="R92e3f927883f44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9f1d3059ad42ea" /><Relationship Type="http://schemas.openxmlformats.org/officeDocument/2006/relationships/image" Target="/ppt/media/image7.png" Id="Rbf340f85b8e44ee4" /><Relationship Type="http://schemas.openxmlformats.org/officeDocument/2006/relationships/notesSlide" Target="/ppt/notesSlides/notesSlide6.xml" Id="Rc920717e1fcf43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dc8c07ee614697" /><Relationship Type="http://schemas.openxmlformats.org/officeDocument/2006/relationships/image" Target="/ppt/media/image8.png" Id="R4b852417b5404e3d" /><Relationship Type="http://schemas.openxmlformats.org/officeDocument/2006/relationships/image" Target="/ppt/media/image9.png" Id="R02f1cde46f614665" /><Relationship Type="http://schemas.openxmlformats.org/officeDocument/2006/relationships/notesSlide" Target="/ppt/notesSlides/notesSlide7.xml" Id="R37ccbfdbed9040a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1d46e19ec24ea6" /><Relationship Type="http://schemas.openxmlformats.org/officeDocument/2006/relationships/image" Target="/ppt/media/image10.png" Id="Rc6dc6cefb0684230" /><Relationship Type="http://schemas.openxmlformats.org/officeDocument/2006/relationships/notesSlide" Target="/ppt/notesSlides/notesSlide8.xml" Id="R07b57de73509451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b213e7433148de" /><Relationship Type="http://schemas.openxmlformats.org/officeDocument/2006/relationships/image" Target="/ppt/media/image11.png" Id="R16c6ade7cc8b4d27" /><Relationship Type="http://schemas.openxmlformats.org/officeDocument/2006/relationships/notesSlide" Target="/ppt/notesSlides/notesSlide9.xml" Id="R5e8fe871572d408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22a85e7fb24987" /><Relationship Type="http://schemas.openxmlformats.org/officeDocument/2006/relationships/image" Target="/ppt/media/image12.png" Id="R779165f359864af7" /><Relationship Type="http://schemas.openxmlformats.org/officeDocument/2006/relationships/notesSlide" Target="/ppt/notesSlides/notesSlide10.xml" Id="Rcccba744fbd144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272986-F999-4056-955E-6D7D56D31E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e1080710a54e04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EDB820-E03C-496C-A511-3D646AC28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ДАННЫЕ ДЛЯ ИНТЕГРАЦИИ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44B83B-C4C0-4792-AE29-93588F8D0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C5797-3786-463C-A10A-BA53BC4C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4916AB-6602-4274-BC4B-2CF63265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01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14B7BD-3835-4655-BD35-4225AEBC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66800"/>
            <a:ext cx="4191000" cy="408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057292-8D1F-4490-B51B-745DF5F1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476375"/>
            <a:ext cx="96202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ИИ в hh.ru</a:t>
            </a:r>
          </a:p>
          <a:p xmlns:a="http://schemas.openxmlformats.org/drawingml/2006/main">
            <a:pPr>
              <a:defRPr sz="4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Результаты для Skillaz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2DEEFF-61A5-4A68-BB53-0796C349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200400"/>
            <a:ext cx="9334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Оценка и ответы кандидата</a:t>
            </a:r>
          </a:p>
          <a:p xmlns:a="http://schemas.openxmlformats.org/drawingml/2006/main">
            <a:pPr>
              <a:defRPr sz="23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в рабочем процессе рекрутера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EC1CC9-BAF3-42F0-BD5A-B65D14EFE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486275"/>
            <a:ext cx="3810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Нейроразбор + Доопрос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8D5DDE-6EF4-4A1E-B67F-C7400183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438650"/>
            <a:ext cx="5372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Настройка и запуск — в hh.ru.</a:t>
            </a:r>
          </a:p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Получение данных в Skillaz требует проверки.</a:t>
            </a:r>
          </a:p>
        </p:txBody>
      </p:sp>
    </p:spTree>
    <p:extLst>
      <p:ext uri="{BB962C8B-B14F-4D97-AF65-F5344CB8AC3E}">
        <p14:creationId xmlns:p14="http://schemas.microsoft.com/office/powerpoint/2010/main" val="16659897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608279-43C6-4CB6-BD61-C9E6690637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fd1c96a1d849ca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CCD09F-8F94-469C-8E97-2C684F3B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РАБОЧИЙ ПРОЦЕСС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9E429-C167-44CD-9A55-CDD62929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Настройка для конкретной</a:t>
            </a:r>
          </a:p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вакансии hh.ru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920CD-CB2C-4D74-A21A-57B7A588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5E8B9-362A-42E4-9A18-98DACE07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DC1DE0-ACCE-486A-A3F4-0E4F012E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02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A4DFED-4C34-4ADB-A83D-7E5762AF5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90750"/>
            <a:ext cx="4572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ПОРТРЕТ КАНДИДАТА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C6DCA6-1246-4F1E-9F99-C2579E2F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590800"/>
            <a:ext cx="3714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Критерии вакансии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652E46-0553-479B-B62C-6E11C05B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05150"/>
            <a:ext cx="428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Обязательные и желательные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Извлекаются из текста вакансии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Можно менять и добавлять свои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Закрытого списка требований нет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47DD9B-7DC6-42D7-8022-4FE8F0B2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81225"/>
            <a:ext cx="190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A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930F10-54EF-43B7-9C26-CFF28858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190750"/>
            <a:ext cx="4333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ДВА НАВЫКА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6C5156-2266-4325-BE28-E57D6B3E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2590800"/>
            <a:ext cx="428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Сортировка и вопросы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B2D3B-3E83-4AEA-938A-5E630F67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105150"/>
            <a:ext cx="4286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 подключении включены оба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Каждый можно отключить отдельно</a:t>
            </a:r>
          </a:p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Настройки выполняются в hh.ru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268FDB-971A-4FEA-A718-6CF15C6D9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Оценка относится к отклику на выбранную вакансию.</a:t>
            </a:r>
          </a:p>
        </p:txBody>
      </p:sp>
    </p:spTree>
    <p:extLst>
      <p:ext uri="{BB962C8B-B14F-4D97-AF65-F5344CB8AC3E}">
        <p14:creationId xmlns:p14="http://schemas.microsoft.com/office/powerpoint/2010/main" val="17544692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89379E-13A7-4B48-B47F-13CB638AEB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754869789d47fc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DA7939-131C-4334-B344-088C9AE8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ПОЛЬЗА ДЛЯ РЕКРУТЕРА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80E2F-CBBA-405D-98F7-4F3CB29E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Что помогает в работе с откликами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1321B6-9F60-4B76-80BA-777EB936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7B73B-5EE5-4985-B3FF-04BB363D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78AA1C-6A70-48CA-B9B3-FDB582A8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03 / 10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CC5310-2F98-4EB3-BF0C-3A1F878320A4}"/>
              </a:ext>
            </a:extLst>
          </p:cNvPr>
          <p:cNvGraphicFramePr/>
          <p:nvPr/>
        </p:nvGraphicFramePr>
        <p:xfrm>
          <a:off xmlns:a="http://schemas.openxmlformats.org/drawingml/2006/main" x="504825" y="2085975"/>
          <a:ext xmlns:a="http://schemas.openxmlformats.org/drawingml/2006/main" cx="9686925" cy="2647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843463"/>
                <a:gridCol w="4843463"/>
              </a:tblGrid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Данные hh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Практическая польза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Итоговая оценка и сводка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Выбрать порядок просмотра откликов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Проверка требований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Найти факты по критериям вакансии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Объяснение и источник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Проверить основания вывода ИИ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529590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Вопросы и ответы кандидата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Подготовиться к первому разговору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801BDA-484C-44D3-B2E7-C5994A756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Эти данные есть в примерах API hh. Итоговое решение принимает рекрутёр.</a:t>
            </a:r>
          </a:p>
        </p:txBody>
      </p:sp>
    </p:spTree>
    <p:extLst>
      <p:ext uri="{BB962C8B-B14F-4D97-AF65-F5344CB8AC3E}">
        <p14:creationId xmlns:p14="http://schemas.microsoft.com/office/powerpoint/2010/main" val="18384135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E7C96A-D9AA-4BBF-9DA4-877DAF36B5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ed6b8873e24e64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7C6162-868D-4F6E-BD3C-5C2E0FAF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ПРОЦЕСС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C20335-DDAF-4211-AF9F-D032B954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Когда запускается разбор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535C6A-E884-4935-BE05-F9A6BCEA7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580AC-D6B5-4CCD-8D11-02465026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7CBCA5-0C3E-4236-9211-87D381F1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04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CB0F18-7B6C-4DB5-9F30-155AFCA8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8097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D50199-CCA4-4ED8-8D29-EEC2AC261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097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Подключение к вакансии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5A6ECD-BF8F-4AE5-BEC8-0110E669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526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hh начинает автоматически сортировать отклики этой вакансии.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1AE02E-5CFB-4B52-9C8E-01D4AD8D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70510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ACF678-C27D-411B-AC5D-26089B774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051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Новый отклик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623FCA-E387-4AF3-ADEE-C5326D0A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480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 включённом навыке hh автоматически анализирует резюме.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ABABD4-1924-4D96-AB66-4ADE00C3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0045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959F6C-BEE9-474A-8D99-9ADDA6CAA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004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Изменение критериев в hh.ru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CD7634-AF06-4BC6-95CE-88874AEC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9433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После сохранения портрета hh запускает повторную сортировку.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A55254-4921-4F4E-8831-4FB632E5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495800"/>
            <a:ext cx="523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991F30-5A49-40EE-A5DD-0DC9DD58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958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Получение готового результата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A73D55-3041-4E33-A660-8B5D23B8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387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Запрос результата через API не запускает новый анализ.</a:t>
            </a:r>
          </a:p>
        </p:txBody>
      </p:sp>
    </p:spTree>
    <p:extLst>
      <p:ext uri="{BB962C8B-B14F-4D97-AF65-F5344CB8AC3E}">
        <p14:creationId xmlns:p14="http://schemas.microsoft.com/office/powerpoint/2010/main" val="7529454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0EB4E5-F547-46CC-B1D4-8B30BB4513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da2a13db934269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783AED-B0C5-4276-AB1F-A1109402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НЕЙРОРАЗБОР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5625C2-F261-4DE8-82F6-2C9AAB9D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С чего начать просмотр откликов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8E8FC8-D713-48CA-B9D7-8393AF2A8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A73EDF-E672-457D-A336-05D40BF9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C8ADB1-7ED1-49BB-84BC-D13E9FBE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05 / 10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851B08-AA49-4EF3-B866-BCC1509762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e604c484324d3a"/>
          <a:stretch xmlns:a="http://schemas.openxmlformats.org/drawingml/2006/main"/>
        </p:blipFill>
        <p:spPr>
          <a:xfrm xmlns:a="http://schemas.openxmlformats.org/drawingml/2006/main">
            <a:off x="825515" y="1905000"/>
            <a:ext cx="5807045" cy="32194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99C897-8998-47C0-B97F-D930AA7F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07645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Категория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BA1B88-C9B4-4888-A22A-194967B2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5745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Помогает выбрать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приоритет просмотра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4EDC03-F5A9-4621-A8C3-4AB32FCE7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352800"/>
            <a:ext cx="2714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Критерии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18868A-6538-4448-BD3C-26DF05507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73380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Показывают основания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оценки кандидата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D8F903-3057-490A-BFAC-08F69DC3F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219700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Иллюстрация из исходной презентации. Решение принимает рекрутёр.</a:t>
            </a:r>
          </a:p>
        </p:txBody>
      </p:sp>
    </p:spTree>
    <p:extLst>
      <p:ext uri="{BB962C8B-B14F-4D97-AF65-F5344CB8AC3E}">
        <p14:creationId xmlns:p14="http://schemas.microsoft.com/office/powerpoint/2010/main" val="9708195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DBBBBF-C042-478E-A369-EDEE06D957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40f85b8e44ee4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7388CE-7005-4FEB-9F0A-E45CFF58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ДООПРОС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305F8D-4826-4EFB-AC2C-B800C1BF9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Как включается доопрос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703EB1-5DC6-442B-9769-1BF59462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D35989-BE7F-48A7-98DA-6F1C8C52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CA520F-183F-46AD-B952-C1C3481A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06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7A94EB-D7CC-495B-9BDE-36199FB57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343150"/>
            <a:ext cx="2886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01 · ПОДКЛЮЧЕНИЕ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809C0E-B319-452C-B525-84D651EE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828925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9A1395-FA41-438A-AB13-86F1FD7D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52775"/>
            <a:ext cx="28670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ИИ-помощник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нужной вакансии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в hh.ru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199F9C-21C8-4C1D-8666-D79B3384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43150"/>
            <a:ext cx="2886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02 · НАСТРОЙКА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E24F13-59FE-4E5E-8227-616246F6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28925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B1BB72-34D7-4623-AFB1-9D82F77D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52775"/>
            <a:ext cx="28670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Навык «Вопросы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кандидату»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До 3 своих вопросов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0F574F-B916-4D58-B2DE-4DFEB298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343150"/>
            <a:ext cx="2886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03 · НОВЫЙ ОТКЛИК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D1A6C1-F1CD-45DA-8FCC-0CCA6BBB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28925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09813B-FE5E-4A1E-B030-13B1956E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152775"/>
            <a:ext cx="28670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hh задаёт вопросы,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если информации</a:t>
            </a:r>
          </a:p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недостаточно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160F8C-7BE5-4DCD-99BD-25485F36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62450"/>
            <a:ext cx="9696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При подключении помощника навык включён по умолчанию. Всего — до 5 вопросов.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593F45-A91A-47A6-8C4D-7AE08D0F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Изменение настроек не запускает повторный доопрос прежних кандидатов.</a:t>
            </a:r>
          </a:p>
        </p:txBody>
      </p:sp>
    </p:spTree>
    <p:extLst>
      <p:ext uri="{BB962C8B-B14F-4D97-AF65-F5344CB8AC3E}">
        <p14:creationId xmlns:p14="http://schemas.microsoft.com/office/powerpoint/2010/main" val="3088338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2B0893-43DE-4DA3-BEAB-109761C3AF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852417b5404e3d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C8825F-A36F-4D1B-8617-4AD95E0A2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ОСНОВАНИЯ ОЦЕНКИ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0D2348-3A61-49A2-9C55-B363B17C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На чём основана оценка кандидата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E70627-1FFF-4F74-82CE-75EB390C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98141E-C13B-4866-A851-9908A2751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A89BDB-196B-42E4-A1F5-CB531BA3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07 / 10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CCF07D-A2BB-467A-B53C-20B5184DCD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1cde46f614665"/>
          <a:stretch xmlns:a="http://schemas.openxmlformats.org/drawingml/2006/main"/>
        </p:blipFill>
        <p:spPr>
          <a:xfrm xmlns:a="http://schemas.openxmlformats.org/drawingml/2006/main">
            <a:off x="506214" y="2085975"/>
            <a:ext cx="5331222" cy="1924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88643-611A-4B8D-A325-759D8147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2481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Проверка оснований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50EE64-19C7-41EE-8ADD-A4B4D1D0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38675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Иллюстрация из исходной презентации.</a:t>
            </a:r>
          </a:p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Рекрутёр проверяет выводы ИИ.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75BB9D-774A-41CB-9EFB-ADB32015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95500"/>
            <a:ext cx="3714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ДАННЫЕ ПО КРИТЕРИЮ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CB845B-2648-4A70-8AAD-79FC997B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574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3F734C-F8F1-4C50-B0E7-72292817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5747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Выполнение требования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38A650-6D98-40A9-A2D1-01E3C0A7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90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28D9DC-9978-4FE4-BC31-22073A68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909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Объяснение оценки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92BB4B-E367-4CA2-B4CE-9C537A03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2432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1F33FC-041D-41C9-BFB1-D9AEB88D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24325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Источник информации</a:t>
            </a:r>
          </a:p>
        </p:txBody>
      </p:sp>
    </p:spTree>
    <p:extLst>
      <p:ext uri="{BB962C8B-B14F-4D97-AF65-F5344CB8AC3E}">
        <p14:creationId xmlns:p14="http://schemas.microsoft.com/office/powerpoint/2010/main" val="4332368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0BA55B-9926-4579-A52B-C76FC39311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dc6cefb0684230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B1366D-AAD2-4579-8DCE-4EC5091B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ГРАНИЦЫ ПОДТВЕРЖДЕНИЯ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1B6EE0-756B-41F2-8FFA-35ED4CF9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Что подтверждено документацией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EC5B3A-C511-4061-B2D9-24AA9727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8C8114-05DE-433C-8A7B-C9FE79CC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C9249B-769F-4C7E-B073-AFF25A6DE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08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70617-F91C-4992-852E-E3962A2B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657350"/>
            <a:ext cx="962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Документация hh описывает функции и примеры ответа API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6E8926-062F-48D7-96ED-6AE27B962254}"/>
              </a:ext>
            </a:extLst>
          </p:cNvPr>
          <p:cNvGraphicFramePr/>
          <p:nvPr/>
        </p:nvGraphicFramePr>
        <p:xfrm>
          <a:off xmlns:a="http://schemas.openxmlformats.org/drawingml/2006/main" x="504825" y="2181225"/>
          <a:ext xmlns:a="http://schemas.openxmlformats.org/drawingml/2006/main" cx="9686925" cy="2419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810125"/>
                <a:gridCol w="2438400"/>
                <a:gridCol w="2438400"/>
              </a:tblGrid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Возможность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Где выполняется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500" b="1">
                          <a:solidFill>
                            <a:srgbClr val="101022"/>
                          </a:solidFill>
                          <a:latin typeface="Arial"/>
                          <a:ea typeface="Arial"/>
                          <a:cs typeface="Arial"/>
                        </a:rPr>
                        <a:t>Статус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T w="5715">
                      <a:solidFill>
                        <a:srgbClr val="DCDAD4"/>
                      </a:solidFill>
                      <a:prstDash val="solid"/>
                    </a:lnT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ECE9DF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Настройка критериев и вопросов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 hh.ru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Описано hh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Разбор и доопрос новых откликов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 hh.ru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Описано hh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Выдача оценки и ответов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API hh.ru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Пример ответа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Получение данных в Skillaz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Наша интеграция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Нужен тест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  <a:tr h="403225"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Запуск и настройка из Skillaz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DCDAD4"/>
                      </a:solidFill>
                      <a:prstDash val="solid"/>
                    </a:lnL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API управления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425" b="0">
                          <a:solidFill>
                            <a:srgbClr val="737C96"/>
                          </a:solidFill>
                          <a:latin typeface="Arial"/>
                          <a:ea typeface="Arial"/>
                          <a:cs typeface="Arial"/>
                        </a:rPr>
                        <a:t>Не подтверждено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DCDAD4"/>
                      </a:solidFill>
                      <a:prstDash val="solid"/>
                    </a:lnR>
                    <a:lnB w="5715">
                      <a:solidFill>
                        <a:srgbClr val="DCDAD4"/>
                      </a:solidFill>
                      <a:prstDash val="solid"/>
                    </a:lnB>
                    <a:solidFill>
                      <a:srgbClr val="F6F5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59845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889EC6-5A0F-427F-A302-D4C40963F6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c6ade7cc8b4d27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AF97A6-F34D-4771-94EB-341231672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ЦЕННОСТЬ ИНТЕГРАЦИИ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CC2824-C4B6-4968-AEB9-CFB00809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866775"/>
            <a:ext cx="969645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0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101022"/>
                </a:solidFill>
                <a:latin typeface="Arial"/>
                <a:ea typeface="Arial"/>
                <a:cs typeface="Arial"/>
              </a:rPr>
              <a:t>За что клиент платит Skillaz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BDD5E7-A18D-4C52-BB28-ED7D6D26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1980EF-18AF-4FC7-9E2E-4ED32008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977DC2-F5C1-4544-AE70-E750903E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09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4562DE-8202-43C1-BFDA-F032A8B2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143125"/>
            <a:ext cx="28479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CABEC8-C632-4B0C-9645-EE4DE53B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447925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Рядом с откликом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E4D11E-5D25-474D-9D7F-290F4CB7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067050"/>
            <a:ext cx="28670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Предлагаем показывать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оценку и ответы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в контексте кандидата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 вакансии в Skillaz.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0BBED-5AA8-47F5-B9FF-D6C4F14A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43125"/>
            <a:ext cx="28479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CC3754-CC0C-4273-8D2A-43B7A87C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47925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В одном процессе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54251B-9706-4A8D-AE87-C21AD3579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67050"/>
            <a:ext cx="28670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Рекрутёр изучает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результат там, где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ведёт подбор и работу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с кандидатом.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3C7F42-8D0B-4D3B-9F68-3F96C6188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143125"/>
            <a:ext cx="28479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B2329B-E538-42F8-A697-4FC5DCA6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447925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Меньше рутины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113B5A-DEE2-46FA-BD4F-DEB5D98D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067050"/>
            <a:ext cx="28670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Это может сократить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переходы в hh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 ручной перенос</a:t>
            </a:r>
          </a:p>
          <a:p xmlns:a="http://schemas.openxmlformats.org/drawingml/2006/main">
            <a:pPr>
              <a:defRPr sz="16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информации.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185733-01AC-4E5F-99E1-07B73213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9696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Ценность Skillaz — использование результатов hh в привычном рабочем процессе.</a:t>
            </a:r>
          </a:p>
        </p:txBody>
      </p:sp>
    </p:spTree>
    <p:extLst>
      <p:ext uri="{BB962C8B-B14F-4D97-AF65-F5344CB8AC3E}">
        <p14:creationId xmlns:p14="http://schemas.microsoft.com/office/powerpoint/2010/main" val="21397911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F9E8EF-B071-4442-830E-AE9068920A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165f359864af7"/>
          <a:stretch xmlns:a="http://schemas.openxmlformats.org/drawingml/2006/main"/>
        </p:blipFill>
        <p:spPr>
          <a:xfrm xmlns:a="http://schemas.openxmlformats.org/drawingml/2006/main">
            <a:off x="504825" y="278130"/>
            <a:ext cx="1600200" cy="3200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B8DDA5-C5B4-49FE-B14B-366E25A7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3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 algn="r">
              <a:def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75" b="0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ПИЛОТ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920E4-E886-4BBF-8BFE-EEA0DA6E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578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SKILLAZ 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221E52-12F9-4951-A3F2-0B81B639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56578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E60023"/>
                </a:solidFill>
                <a:latin typeface="Courier New"/>
                <a:ea typeface="Courier New"/>
                <a:cs typeface="Courier New"/>
              </a:rPr>
              <a:t>HH.RU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029CC3-DF30-4D5F-A1A6-DEF4D2B7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57850"/>
            <a:ext cx="7905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defRPr>
            </a:pPr>
            <a:r>
              <a:rPr sz="900" b="1">
                <a:solidFill>
                  <a:srgbClr val="737C96"/>
                </a:solidFill>
                <a:latin typeface="Courier New"/>
                <a:ea typeface="Courier New"/>
                <a:cs typeface="Courier New"/>
              </a:rPr>
              <a:t>10 /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4C2C49-E2A3-434B-A8D7-123B0603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71550"/>
            <a:ext cx="10692384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0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77476E-EBE9-4027-A9A5-9CFC2C1A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314450"/>
            <a:ext cx="981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Как проверить пользу интеграции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88F629-9E0D-45E4-BC03-98AB9127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600325"/>
            <a:ext cx="447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5E2480-B5E9-44FF-BA5D-707ED985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0032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Доступ к данным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AF3D37-D292-4EC4-BDB0-DB5D76BC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0032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Проверить получение результатов приложением Skillaz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C8413C-AA37-4AC4-A42A-6D42A5D3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90875"/>
            <a:ext cx="447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D058F7-B198-455C-8E57-FFD12B93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908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Сравнение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CBF438-77FD-46B4-9F84-BA619460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9087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Работа в hh и с теми же результатами в Skillaz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5CEF6A-7F70-4FAB-A643-919AB768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781425"/>
            <a:ext cx="447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15B137-CCAC-43B9-B3AD-E1D7D957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8142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Замеры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CD4F8A-9188-4C41-8B48-7200639D7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8142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Время просмотра, переходы и ручной перенос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98ECF2-8E1C-4FBC-AF74-3520A787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71975"/>
            <a:ext cx="4476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defRPr>
            </a:pPr>
            <a:r>
              <a:rPr sz="1575" b="1">
                <a:solidFill>
                  <a:srgbClr val="101022"/>
                </a:solidFill>
                <a:latin typeface="Courier New"/>
                <a:ea typeface="Courier New"/>
                <a:cs typeface="Courier New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2AFF02-781E-4533-91AB-80F086C1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719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Оценка пользы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181EAA-9059-4CD9-8804-297651FCB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71975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737C9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C96"/>
                </a:solidFill>
                <a:latin typeface="Arial"/>
                <a:ea typeface="Arial"/>
                <a:cs typeface="Arial"/>
              </a:rPr>
              <a:t>Учесть проверку ИИ и отзывы рекрутеров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BCC267-1DFC-4962-BD10-E142CC56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229225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0102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022"/>
                </a:solidFill>
                <a:latin typeface="Arial"/>
                <a:ea typeface="Arial"/>
                <a:cs typeface="Arial"/>
              </a:rPr>
              <a:t>Экономию времени и затрат определяем по пилоту, заранее не обещаем</a:t>
            </a:r>
          </a:p>
        </p:txBody>
      </p:sp>
    </p:spTree>
    <p:extLst>
      <p:ext uri="{BB962C8B-B14F-4D97-AF65-F5344CB8AC3E}">
        <p14:creationId xmlns:p14="http://schemas.microsoft.com/office/powerpoint/2010/main" val="14898866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2026-10-16T12:07:42.4940000Z</dcterms:created>
  <dcterms:modified xsi:type="dcterms:W3CDTF">2026-10-16T12:07:42.4940000Z</dcterms:modified>
</coreProperties>
</file>