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dc021bd6a94c8a" /><Relationship Type="http://schemas.openxmlformats.org/officeDocument/2006/relationships/extended-properties" Target="/docProps/app.xml" Id="R692c835bfe124369" /><Relationship Type="http://schemas.openxmlformats.org/officeDocument/2006/relationships/officeDocument" Target="/ppt/presentation.xml" Id="R1d75364b7ec741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1853f8204c4558"/>
  </p:sldMasterIdLst>
  <p:notesMasterIdLst>
    <p:notesMasterId xmlns:r="http://schemas.openxmlformats.org/officeDocument/2006/relationships" r:id="R3539e99b55144c49"/>
  </p:notesMasterIdLst>
  <p:sldIdLst>
    <p:sldId xmlns:r="http://schemas.openxmlformats.org/officeDocument/2006/relationships" id="256" r:id="R8133d69ff5ac4641"/>
    <p:sldId xmlns:r="http://schemas.openxmlformats.org/officeDocument/2006/relationships" id="257" r:id="Rbf9bfd30a9dc41e1"/>
    <p:sldId xmlns:r="http://schemas.openxmlformats.org/officeDocument/2006/relationships" id="258" r:id="Rc51783c445f94a2d"/>
    <p:sldId xmlns:r="http://schemas.openxmlformats.org/officeDocument/2006/relationships" id="259" r:id="Rc8d420f9a86a4a64"/>
    <p:sldId xmlns:r="http://schemas.openxmlformats.org/officeDocument/2006/relationships" id="260" r:id="Rce7a6ee2316646df"/>
    <p:sldId xmlns:r="http://schemas.openxmlformats.org/officeDocument/2006/relationships" id="261" r:id="R051fed3287a3455e"/>
    <p:sldId xmlns:r="http://schemas.openxmlformats.org/officeDocument/2006/relationships" id="262" r:id="Rfb77e45367db4aeb"/>
    <p:sldId xmlns:r="http://schemas.openxmlformats.org/officeDocument/2006/relationships" id="263" r:id="Rb37a7979a4544d44"/>
    <p:sldId xmlns:r="http://schemas.openxmlformats.org/officeDocument/2006/relationships" id="264" r:id="R9becae8d96b4464d"/>
    <p:sldId xmlns:r="http://schemas.openxmlformats.org/officeDocument/2006/relationships" id="265" r:id="Rcbdde80158f84570"/>
  </p:sldIdLst>
  <p:sldSz cx="10692384" cy="6007608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d59a3da9ac45b3" /><Relationship Type="http://schemas.openxmlformats.org/officeDocument/2006/relationships/slideMaster" Target="/ppt/slideMasters/slideMaster1.xml" Id="Rec1853f8204c4558" /><Relationship Type="http://schemas.openxmlformats.org/officeDocument/2006/relationships/notesMaster" Target="/ppt/notesMasters/notesMaster1.xml" Id="R3539e99b55144c49" /><Relationship Type="http://schemas.openxmlformats.org/officeDocument/2006/relationships/presProps" Target="/ppt/presProps.xml" Id="R819b7942c0b044af" /><Relationship Type="http://schemas.openxmlformats.org/officeDocument/2006/relationships/tableStyles" Target="/ppt/tableStyles.xml" Id="Rd26039f1d8814294" /><Relationship Type="http://schemas.openxmlformats.org/officeDocument/2006/relationships/slide" Target="/ppt/slides/slide1.xml" Id="R8133d69ff5ac4641" /><Relationship Type="http://schemas.openxmlformats.org/officeDocument/2006/relationships/slide" Target="/ppt/slides/slide2.xml" Id="Rbf9bfd30a9dc41e1" /><Relationship Type="http://schemas.openxmlformats.org/officeDocument/2006/relationships/slide" Target="/ppt/slides/slide3.xml" Id="Rc51783c445f94a2d" /><Relationship Type="http://schemas.openxmlformats.org/officeDocument/2006/relationships/slide" Target="/ppt/slides/slide4.xml" Id="Rc8d420f9a86a4a64" /><Relationship Type="http://schemas.openxmlformats.org/officeDocument/2006/relationships/slide" Target="/ppt/slides/slide5.xml" Id="Rce7a6ee2316646df" /><Relationship Type="http://schemas.openxmlformats.org/officeDocument/2006/relationships/slide" Target="/ppt/slides/slide6.xml" Id="R051fed3287a3455e" /><Relationship Type="http://schemas.openxmlformats.org/officeDocument/2006/relationships/slide" Target="/ppt/slides/slide7.xml" Id="Rfb77e45367db4aeb" /><Relationship Type="http://schemas.openxmlformats.org/officeDocument/2006/relationships/slide" Target="/ppt/slides/slide8.xml" Id="Rb37a7979a4544d44" /><Relationship Type="http://schemas.openxmlformats.org/officeDocument/2006/relationships/slide" Target="/ppt/slides/slide9.xml" Id="R9becae8d96b4464d" /><Relationship Type="http://schemas.openxmlformats.org/officeDocument/2006/relationships/slide" Target="/ppt/slides/slide10.xml" Id="Rcbdde80158f845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8350d8bcda41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6a4e14fa2f4bf8" /><Relationship Type="http://schemas.openxmlformats.org/officeDocument/2006/relationships/notesMaster" Target="/ppt/notesMasters/notesMaster1.xml" Id="R95517fa0e87c42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8bbbffc1de44fa" /><Relationship Type="http://schemas.openxmlformats.org/officeDocument/2006/relationships/notesMaster" Target="/ppt/notesMasters/notesMaster1.xml" Id="Re762601f095140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8fa31f55fb43b7" /><Relationship Type="http://schemas.openxmlformats.org/officeDocument/2006/relationships/notesMaster" Target="/ppt/notesMasters/notesMaster1.xml" Id="R128f4f71ff3441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3e28fde14b47d4" /><Relationship Type="http://schemas.openxmlformats.org/officeDocument/2006/relationships/notesMaster" Target="/ppt/notesMasters/notesMaster1.xml" Id="R6ca6b91fa48940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156512dcee4e9d" /><Relationship Type="http://schemas.openxmlformats.org/officeDocument/2006/relationships/notesMaster" Target="/ppt/notesMasters/notesMaster1.xml" Id="Rfd60025ea5564c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8cc17b635f43b7" /><Relationship Type="http://schemas.openxmlformats.org/officeDocument/2006/relationships/notesMaster" Target="/ppt/notesMasters/notesMaster1.xml" Id="R520ccd221e684d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836f91408e41c7" /><Relationship Type="http://schemas.openxmlformats.org/officeDocument/2006/relationships/notesMaster" Target="/ppt/notesMasters/notesMaster1.xml" Id="R992c223008ba4a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5f7ad4627a46c3" /><Relationship Type="http://schemas.openxmlformats.org/officeDocument/2006/relationships/notesMaster" Target="/ppt/notesMasters/notesMaster1.xml" Id="R18f3a0c6f3a249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2945bfec9642d4" /><Relationship Type="http://schemas.openxmlformats.org/officeDocument/2006/relationships/notesMaster" Target="/ppt/notesMasters/notesMaster1.xml" Id="Rddff930b716f4b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57aa495afd46d5" /><Relationship Type="http://schemas.openxmlformats.org/officeDocument/2006/relationships/notesMaster" Target="/ppt/notesMasters/notesMaster1.xml" Id="Rba602f12d13548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ПРОВЕРКА API, 16.10.2026. Источники: https://api.hh.ru/openapi/specification/public ; https://api.hh.ru/openapi/redoc#tag/Otklikipriglasheniya-rabotodatelya/operation/get-negotiation-item . В официальных примерах GET /negotiations/{id} и списка откликов есть ai_assistant.neuro_response и ai_assistant.neuro_invite. Реальный авторизованный запрос от Skillaz не выполнялся; доступность для конкретного клиента, полнота, гарантии и условия оплаты не подтверждены. Источник экранов: предоставленный Presentation-Razbor-Doopros.pdf.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Позиционирование: публичная документация описывает получение результатов ИИ, но не подтверждает готовую интеграцию Skillaz. Проверить токен приложения Skillaz, доступ клиента, наличие ai_assistant в реальном отклике и продуктовый релиз. Не обещать работу в карточке до проверки.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ПРОВЕРКА API, 16.10.2026. Источники: https://api.hh.ru/openapi/specification/public ; https://api.hh.ru/openapi/redoc#tag/Otklikipriglasheniya-rabotodatelya/operation/get-negotiation-item . В официальных примерах GET /negotiations/{id} и списка откликов есть ai_assistant.neuro_response и ai_assistant.neuro_invite. Реальный авторизованный запрос от Skillaz не выполнялся; доступность для конкретного клиента, полнота, гарантии и условия оплаты не подтверждены. Источник экранов: предоставленный Presentation-Razbor-Doopros.pdf.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Подтверждены примеры данных neuro_response и neuro_invite. Блок найден в examples; подробной схемы ai_assistant в проверенной спецификации нет. Нужны реальные ответы API, перечень значений, nullable-поля и условия появления блока. Сокращение ручных действий — гипотеза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ПРОВЕРКА API, 16.10.2026. Источники: https://api.hh.ru/openapi/specification/public ; https://api.hh.ru/openapi/redoc#tag/Otklikipriglasheniya-rabotodatelya/operation/get-negotiation-item . В официальных примерах GET /negotiations/{id} и списка откликов есть ai_assistant.neuro_response и ai_assistant.neuro_invite. Реальный авторизованный запрос от Skillaz не выполнялся; доступность для конкретного клиента, полнота, гарантии и условия оплаты не подтверждены. Источник экранов: предоставленный Presentation-Razbor-Doopros.pdf.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Таблица отражает только поля официального примера API. Требуют проверки: показ результата в воронке Skillaz, работа с категориями, отображение подробного разбора, привязка вопросов к полям и автоматическое заполнение карточки. Цитата ответа в API не равна готовому структурированному полю Skillaz.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ПРОВЕРКА API, 16.10.2026. Источники: https://api.hh.ru/openapi/specification/public ; https://api.hh.ru/openapi/redoc#tag/Otklikipriglasheniya-rabotodatelya/operation/get-negotiation-item . В официальных примерах GET /negotiations/{id} и списка откликов есть ai_assistant.neuro_response и ai_assistant.neuro_invite. Реальный авторизованный запрос от Skillaz не выполнялся; доступность для конкретного клиента, полнота, гарантии и условия оплаты не подтверждены. Источник экранов: предоставленный Presentation-Razbor-Doopros.pdf.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НЕПОДТВЕРЖДЁННЫЕ ВОЗМОЖНОСТИ: настройка критериев и включение ИИ из Skillaz; запуск доопроса и управление вопросами через API; повторный разбор; получение уведомлений об изменении результатов. Публичные методы управления этими функциями не найдены. Отсутствие в публичной документации не исключает партнёрский API. Проверить периодичность обновлений и условия доступа.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ПРОВЕРКА API, 16.10.2026. Источники: https://api.hh.ru/openapi/specification/public ; https://api.hh.ru/openapi/redoc#tag/Otklikipriglasheniya-rabotodatelya/operation/get-negotiation-item . В официальных примерах GET /negotiations/{id} и списка откликов есть ai_assistant.neuro_response и ai_assistant.neuro_invite. Реальный авторизованный запрос от Skillaz не выполнялся; доступность для конкретного клиента, полнота, гарантии и условия оплаты не подтверждены. Источник экранов: предоставленный Presentation-Razbor-Doopros.pdf.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Скриншот сохранён из исходного PDF, слайд 6, как иллюстрация, а не свидетельство проверенной интеграции. Проверить наличие фильтров, счётчиков, названия категорий и сопоставление decision со статусами Skillaz. Не интерпретировать ACCEPT из примера как полный перечень категорий.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ПРОВЕРКА API, 16.10.2026. Источники: https://api.hh.ru/openapi/specification/public ; https://api.hh.ru/openapi/redoc#tag/Otklikipriglasheniya-rabotodatelya/operation/get-negotiation-item . В официальных примерах GET /negotiations/{id} и списка откликов есть ai_assistant.neuro_response и ai_assistant.neuro_invite. Реальный авторизованный запрос от Skillaz не выполнялся; доступность для конкретного клиента, полнота, гарантии и условия оплаты не подтверждены. Источник экранов: предоставленный Presentation-Razbor-Doopros.pdf.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Диалог на слайде иллюстративный. Подтверждены question и quote в answers_to_questions_from_employer. Требуют проверки: запуск доопроса из Skillaz, настройка вопросов через API, автоматическое заполнение полей, типизация ответов, разбор неоднозначных ответов, обработка пропусков и повторных ответов.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ПРОВЕРКА API, 16.10.2026. Источники: https://api.hh.ru/openapi/specification/public ; https://api.hh.ru/openapi/redoc#tag/Otklikipriglasheniya-rabotodatelya/operation/get-negotiation-item . В официальных примерах GET /negotiations/{id} и списка откликов есть ai_assistant.neuro_response и ai_assistant.neuro_invite. Реальный авторизованный запрос от Skillaz не выполнялся; доступность для конкретного клиента, полнота, гарантии и условия оплаты не подтверждены. Источник экранов: предоставленный Presentation-Razbor-Doopros.pdf.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Скриншот сохранён из исходного PDF, слайд 11. Подтверждены поля критериев is_met, explanation, source. Требуют проверки: ручная смена категории в Skillaz; синхронизация с hh; сохранение ручного решения после повторного анализа; журнал изменений, права и типы событий. Схема истории изменений удалена из основного содержания.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ПРОВЕРКА API, 16.10.2026. Источники: https://api.hh.ru/openapi/specification/public ; https://api.hh.ru/openapi/redoc#tag/Otklikipriglasheniya-rabotodatelya/operation/get-negotiation-item . В официальных примерах GET /negotiations/{id} и списка откликов есть ai_assistant.neuro_response и ai_assistant.neuro_invite. Реальный авторизованный запрос от Skillaz не выполнялся; доступность для конкретного клиента, полнота, гарантии и условия оплаты не подтверждены. Источник экранов: предоставленный Presentation-Razbor-Doopros.pdf.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план пилота, а не подтверждённый эффект. После технической проверки сравнить сопоставимые вакансии и нагрузку: работа с ИИ непосредственно в hh.ru и через Skillaz. Не приписывать интеграции общий эффект ИИ. Сэкономленные часы не равны гарантированному сокращению расходов.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ПРОВЕРКА API, 16.10.2026. Источники: https://api.hh.ru/openapi/specification/public ; https://api.hh.ru/openapi/redoc#tag/Otklikipriglasheniya-rabotodatelya/operation/get-negotiation-item . В официальных примерах GET /negotiations/{id} и списка откликов есть ai_assistant.neuro_response и ai_assistant.neuro_invite. Реальный авторизованный запрос от Skillaz не выполнялся; доступность для конкретного клиента, полнота, гарантии и условия оплаты не подтверждены. Источник экранов: предоставленный Presentation-Razbor-Doopros.pdf.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НЕПОДТВЕРЖДЁННЫЕ УСЛОВИЯ ОПЛАТЫ: стоимость доступа к ИИ и API hh, входит ли она в тариф Skillaz, учёт уже оплаченных услуг hh, единица тарификации, лимиты, превышения, оплата доопроса, внедрение, сопровождение, SLA. Разделение на внедрение/использование/сопровождение было гипотезой предложения, не утверждённым тарифом. Условия оплаты не вынесены на слайд.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ПРОВЕРКА API, 16.10.2026. Источники: https://api.hh.ru/openapi/specification/public ; https://api.hh.ru/openapi/redoc#tag/Otklikipriglasheniya-rabotodatelya/operation/get-negotiation-item . В официальных примерах GET /negotiations/{id} и списка откликов есть ai_assistant.neuro_response и ai_assistant.neuro_invite. Реальный авторизованный запрос от Skillaz не выполнялся; доступность для конкретного клиента, полнота, гарантии и условия оплаты не подтверждены. Источник экранов: предоставленный Presentation-Razbor-Doopros.pdf.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Перед пилотом: получить реальный отклик с завершённым разбором и доопросом, выполнить GET /negotiations/{id} от приложения Skillaz, проверить ai_assistant и сопоставление данных. Запросить у hh документацию партнёрских методов, права, ограничения и коммерческие условия. Сроки, цена пилота, объём, ответственность и критерии приёмки не подтверждены.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27cadc3eb40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7b31ea6e945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1e77a00d684e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bf91f8a6742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ca0144c84740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47165494f048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3792D1-71BB-495F-ACCB-1489563BA0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38" y="2269541"/>
            <a:ext cx="8553907" cy="86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A760E3B-5755-4D4B-86E9-F8B36CB710B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3858" y="3304184"/>
            <a:ext cx="7484669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E4EF8BB-1AEE-426D-BB43-5AB271BD71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38" y="2503170"/>
            <a:ext cx="8553907" cy="100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0FAF67-0D0C-4509-9381-7E9E782FCB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7258"/>
            <a:ext cx="9489491" cy="734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B7EA8C2-D827-4D30-96C2-BC00D87FF5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68780"/>
            <a:ext cx="9489491" cy="3738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254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1pPr>
            <a:lvl2pPr marL="467258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2pPr>
            <a:lvl3pPr marL="734263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3pPr>
            <a:lvl4pPr marL="1001268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4pPr>
            <a:lvl5pPr marL="1268273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5pPr>
            <a:lvl6pPr marL="1535278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6pPr>
            <a:lvl7pPr marL="1802282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7pPr>
            <a:lvl8pPr marL="2069287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8pPr>
            <a:lvl9pPr marL="2336292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41E622-2BB8-4CC1-BA78-1C848A32F5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7258"/>
            <a:ext cx="9489491" cy="734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31319B-7A21-4F0B-8D15-B8FA8259D9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68780"/>
            <a:ext cx="4410608" cy="3738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254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1pPr>
            <a:lvl2pPr marL="467258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2pPr>
            <a:lvl3pPr marL="734263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3pPr>
            <a:lvl4pPr marL="1001268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4pPr>
            <a:lvl5pPr marL="1268273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5pPr>
            <a:lvl6pPr marL="1535278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6pPr>
            <a:lvl7pPr marL="1802282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7pPr>
            <a:lvl8pPr marL="2069287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8pPr>
            <a:lvl9pPr marL="2336292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E3BD7D9-4764-4FAD-B358-99E98A0933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80329" y="1668780"/>
            <a:ext cx="4410608" cy="3738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254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1pPr>
            <a:lvl2pPr marL="467258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2pPr>
            <a:lvl3pPr marL="734263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3pPr>
            <a:lvl4pPr marL="1001268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4pPr>
            <a:lvl5pPr marL="1268273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5pPr>
            <a:lvl6pPr marL="1535278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6pPr>
            <a:lvl7pPr marL="1802282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7pPr>
            <a:lvl8pPr marL="2069287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8pPr>
            <a:lvl9pPr marL="2336292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E1C9B9-7847-4619-91AF-4687D064D0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7258"/>
            <a:ext cx="9489491" cy="734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8E8202-CB85-4B64-9E24-6A9711CC6D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68780"/>
            <a:ext cx="4410608" cy="3738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254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1pPr>
            <a:lvl2pPr marL="467258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2pPr>
            <a:lvl3pPr marL="734263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3pPr>
            <a:lvl4pPr marL="1001268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4pPr>
            <a:lvl5pPr marL="1268273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5pPr>
            <a:lvl6pPr marL="1535278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6pPr>
            <a:lvl7pPr marL="1802282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7pPr>
            <a:lvl8pPr marL="2069287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8pPr>
            <a:lvl9pPr marL="2336292" indent="-200254">
              <a:lnSpc>
                <a:spcPct val="110000"/>
              </a:lnSpc>
              <a:spcBef>
                <a:spcPts val="0"/>
              </a:spcBef>
              <a:spcAft>
                <a:spcPts val="105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be1d2a81b5421a" /><Relationship Type="http://schemas.openxmlformats.org/officeDocument/2006/relationships/slideLayout" Target="/ppt/slideLayouts/slideLayout1.xml" Id="Ra3360ede91714130" /><Relationship Type="http://schemas.openxmlformats.org/officeDocument/2006/relationships/slideLayout" Target="/ppt/slideLayouts/slideLayout2.xml" Id="R6f7dc655eaa04427" /><Relationship Type="http://schemas.openxmlformats.org/officeDocument/2006/relationships/slideLayout" Target="/ppt/slideLayouts/slideLayout3.xml" Id="R9cebfb75f3a94d31" /><Relationship Type="http://schemas.openxmlformats.org/officeDocument/2006/relationships/slideLayout" Target="/ppt/slideLayouts/slideLayout4.xml" Id="R7cc6affc99c04715" /><Relationship Type="http://schemas.openxmlformats.org/officeDocument/2006/relationships/slideLayout" Target="/ppt/slideLayouts/slideLayout5.xml" Id="R99407181344d46a3" /><Relationship Type="http://schemas.openxmlformats.org/officeDocument/2006/relationships/slideLayout" Target="/ppt/slideLayouts/slideLayout6.xml" Id="R783fda3549694c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360ede91714130"/>
    <p:sldLayoutId xmlns:r="http://schemas.openxmlformats.org/officeDocument/2006/relationships" id="2147483650" r:id="R6f7dc655eaa04427"/>
    <p:sldLayoutId xmlns:r="http://schemas.openxmlformats.org/officeDocument/2006/relationships" id="2147483651" r:id="R9cebfb75f3a94d31"/>
    <p:sldLayoutId xmlns:r="http://schemas.openxmlformats.org/officeDocument/2006/relationships" id="2147483652" r:id="R7cc6affc99c04715"/>
    <p:sldLayoutId xmlns:r="http://schemas.openxmlformats.org/officeDocument/2006/relationships" id="2147483653" r:id="R99407181344d46a3"/>
    <p:sldLayoutId xmlns:r="http://schemas.openxmlformats.org/officeDocument/2006/relationships" id="2147483654" r:id="R783fda3549694c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f2c9b69cee4903" /><Relationship Type="http://schemas.openxmlformats.org/officeDocument/2006/relationships/image" Target="/ppt/media/image.png" Id="Rf75e69d75f014172" /><Relationship Type="http://schemas.openxmlformats.org/officeDocument/2006/relationships/notesSlide" Target="/ppt/notesSlides/notesSlide1.xml" Id="R126dd3565b6342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af5578356b4118" /><Relationship Type="http://schemas.openxmlformats.org/officeDocument/2006/relationships/image" Target="/ppt/media/image2.png" Id="Rb602084c2a6b4afc" /><Relationship Type="http://schemas.openxmlformats.org/officeDocument/2006/relationships/notesSlide" Target="/ppt/notesSlides/notesSlide2.xml" Id="R910276bcfb094b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e80f73b8244dca" /><Relationship Type="http://schemas.openxmlformats.org/officeDocument/2006/relationships/image" Target="/ppt/media/image3.png" Id="R6994967d1a004831" /><Relationship Type="http://schemas.openxmlformats.org/officeDocument/2006/relationships/notesSlide" Target="/ppt/notesSlides/notesSlide3.xml" Id="R6c9f32c7d89146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41da1862f74ee2" /><Relationship Type="http://schemas.openxmlformats.org/officeDocument/2006/relationships/image" Target="/ppt/media/image4.png" Id="Rb0430e2231ff4f95" /><Relationship Type="http://schemas.openxmlformats.org/officeDocument/2006/relationships/notesSlide" Target="/ppt/notesSlides/notesSlide4.xml" Id="R5e95ba7fd0644d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23910fad5c4cad" /><Relationship Type="http://schemas.openxmlformats.org/officeDocument/2006/relationships/image" Target="/ppt/media/image5.png" Id="Rc54be6a5aaff4865" /><Relationship Type="http://schemas.openxmlformats.org/officeDocument/2006/relationships/image" Target="/ppt/media/image6.png" Id="Rf02eaa9daf6343a7" /><Relationship Type="http://schemas.openxmlformats.org/officeDocument/2006/relationships/notesSlide" Target="/ppt/notesSlides/notesSlide5.xml" Id="Re37ba9ef7a4e46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94d905fead403a" /><Relationship Type="http://schemas.openxmlformats.org/officeDocument/2006/relationships/image" Target="/ppt/media/image7.png" Id="Rde5ba37cf19d43af" /><Relationship Type="http://schemas.openxmlformats.org/officeDocument/2006/relationships/notesSlide" Target="/ppt/notesSlides/notesSlide6.xml" Id="R2671fd8bf1414e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4a921cd88c44a5" /><Relationship Type="http://schemas.openxmlformats.org/officeDocument/2006/relationships/image" Target="/ppt/media/image8.png" Id="Rea4ac867d89c40cb" /><Relationship Type="http://schemas.openxmlformats.org/officeDocument/2006/relationships/image" Target="/ppt/media/image9.png" Id="R4e020c2a4942481e" /><Relationship Type="http://schemas.openxmlformats.org/officeDocument/2006/relationships/notesSlide" Target="/ppt/notesSlides/notesSlide7.xml" Id="R51b38887436945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ffad5781084957" /><Relationship Type="http://schemas.openxmlformats.org/officeDocument/2006/relationships/image" Target="/ppt/media/image10.png" Id="R3c7695abb22f42cf" /><Relationship Type="http://schemas.openxmlformats.org/officeDocument/2006/relationships/notesSlide" Target="/ppt/notesSlides/notesSlide8.xml" Id="Ra57c31f4ffc54b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6d3cb961dd4a66" /><Relationship Type="http://schemas.openxmlformats.org/officeDocument/2006/relationships/image" Target="/ppt/media/image11.png" Id="R43d1d046029349c9" /><Relationship Type="http://schemas.openxmlformats.org/officeDocument/2006/relationships/notesSlide" Target="/ppt/notesSlides/notesSlide9.xml" Id="R4bbb9108174a40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31890e6ad940fb" /><Relationship Type="http://schemas.openxmlformats.org/officeDocument/2006/relationships/image" Target="/ppt/media/image12.png" Id="R9796431a3f894f28" /><Relationship Type="http://schemas.openxmlformats.org/officeDocument/2006/relationships/notesSlide" Target="/ppt/notesSlides/notesSlide10.xml" Id="R4a633f6df25d41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A12FB-FCD2-47A9-831B-28F9BB344C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e69d75f014172"/>
          <a:stretch xmlns:a="http://schemas.openxmlformats.org/drawingml/2006/main"/>
        </p:blipFill>
        <p:spPr>
          <a:xfrm xmlns:a="http://schemas.openxmlformats.org/drawingml/2006/main">
            <a:off x="504825" y="278130"/>
            <a:ext cx="1600200" cy="3200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09E26-A284-41F2-BBE7-9880D781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ДАННЫЕ ДЛЯ ИНТЕГРАЦИИ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393D1-853D-4B2A-AB2B-A47D9FBC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6578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SKILLAZ 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F8EC0-3AC2-43C5-A328-F4EE7DE1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6578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rPr>
              <a:t>HH.RU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ADA15-05BD-492A-9481-E4353D2D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57850"/>
            <a:ext cx="79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01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3D56D-80FB-41D0-8C40-B0ABA24C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4191000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0562A-62B9-4CAE-A2BD-3C649F1F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476375"/>
            <a:ext cx="9620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7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7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ИИ-разбор hh.ru</a:t>
            </a:r>
          </a:p>
          <a:p xmlns:a="http://schemas.openxmlformats.org/drawingml/2006/main">
            <a:pPr>
              <a:defRPr sz="47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и данные для Skillaz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85196-6DB4-4EF6-ACE5-307862CB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200400"/>
            <a:ext cx="9334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1022"/>
                </a:solidFill>
                <a:latin typeface="Arial"/>
                <a:ea typeface="Arial"/>
                <a:cs typeface="Arial"/>
              </a:rPr>
              <a:t>Результаты разбора и ответы кандидатов</a:t>
            </a:r>
          </a:p>
          <a:p xmlns:a="http://schemas.openxmlformats.org/drawingml/2006/main">
            <a:pPr>
              <a:defRPr sz="2325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1022"/>
                </a:solidFill>
                <a:latin typeface="Arial"/>
                <a:ea typeface="Arial"/>
                <a:cs typeface="Arial"/>
              </a:rPr>
              <a:t>в публичной документации API hh.ru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8CBB7-9517-4ED1-A262-CEF8A55E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486275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Нейроразбор + Доопрос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81324-708B-4C25-92C9-7DE7FB9B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38650"/>
            <a:ext cx="537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Информация для первичного отбора.</a:t>
            </a:r>
          </a:p>
          <a:p xmlns:a="http://schemas.openxmlformats.org/drawingml/2006/main">
            <a:pPr>
              <a:defRPr sz="157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Решение о следующем этапе принимает рекрутёр.</a:t>
            </a:r>
          </a:p>
        </p:txBody>
      </p:sp>
    </p:spTree>
    <p:extLst>
      <p:ext uri="{BB962C8B-B14F-4D97-AF65-F5344CB8AC3E}">
        <p14:creationId xmlns:p14="http://schemas.microsoft.com/office/powerpoint/2010/main" val="20322717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5057E6-9778-461E-9D00-937176DC04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2084c2a6b4afc"/>
          <a:stretch xmlns:a="http://schemas.openxmlformats.org/drawingml/2006/main"/>
        </p:blipFill>
        <p:spPr>
          <a:xfrm xmlns:a="http://schemas.openxmlformats.org/drawingml/2006/main">
            <a:off x="504825" y="278130"/>
            <a:ext cx="1600200" cy="3200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CC6EA-593E-49ED-9B8B-412ADDA4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РАБОЧИЙ ПРОЦЕСС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3C684-A789-4DE5-A7C8-875E6409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866775"/>
            <a:ext cx="9696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1022"/>
                </a:solidFill>
                <a:latin typeface="Arial"/>
                <a:ea typeface="Arial"/>
                <a:cs typeface="Arial"/>
              </a:rPr>
              <a:t>Какие данные описаны</a:t>
            </a:r>
          </a:p>
          <a:p xmlns:a="http://schemas.openxmlformats.org/drawingml/2006/main">
            <a:pPr>
              <a:defRPr sz="3150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1022"/>
                </a:solidFill>
                <a:latin typeface="Arial"/>
                <a:ea typeface="Arial"/>
                <a:cs typeface="Arial"/>
              </a:rPr>
              <a:t>в API hh.ru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88BA2-AB6C-4D81-AB22-0AD0E703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6578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SKILLAZ 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0068A-31A3-4A12-95E4-10A8E968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6578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rPr>
              <a:t>HH.RU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A3F42-07BD-42FB-A867-E2B376B9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57850"/>
            <a:ext cx="79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02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4AEB8-487D-453F-B4D3-FCBD23DF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190750"/>
            <a:ext cx="457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РАЗБОР РЕЗЮМЕ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26D7A-6F82-4539-AE86-4829BDBB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5908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Оценка и основания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76782-ECDE-4162-8B41-AAD840F9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10515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Результат оценки</a:t>
            </a:r>
          </a:p>
          <a:p xmlns:a="http://schemas.openxmlformats.org/drawingml/2006/main">
            <a:pPr>
              <a:defRPr sz="172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Краткая сводка</a:t>
            </a:r>
          </a:p>
          <a:p xmlns:a="http://schemas.openxmlformats.org/drawingml/2006/main">
            <a:pPr>
              <a:defRPr sz="172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Выполнение критериев</a:t>
            </a:r>
          </a:p>
          <a:p xmlns:a="http://schemas.openxmlformats.org/drawingml/2006/main">
            <a:pPr>
              <a:defRPr sz="172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Объяснение по каждому критерию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77568-8068-41F1-AE12-C2A713AD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81225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A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4D4E7-39DA-4FB2-81D4-70CC131D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190750"/>
            <a:ext cx="433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ОТВЕТЫ КАНДИДАТА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25768-437E-4081-8785-3AD7902B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9080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Вопросы и ответы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BB2B3-DF04-43BA-B384-C85A82B6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105150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Вопрос работодателя</a:t>
            </a:r>
          </a:p>
          <a:p xmlns:a="http://schemas.openxmlformats.org/drawingml/2006/main">
            <a:pPr>
              <a:defRPr sz="172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Цитата ответа кандидата</a:t>
            </a:r>
          </a:p>
          <a:p xmlns:a="http://schemas.openxmlformats.org/drawingml/2006/main">
            <a:pPr>
              <a:defRPr sz="172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Статус ответов и вопросы кандидата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42E77-0647-40DE-8900-9F52C748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133975"/>
            <a:ext cx="969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Эти данные приведены в официальных примерах ответа API hh.ru.</a:t>
            </a:r>
          </a:p>
        </p:txBody>
      </p:sp>
    </p:spTree>
    <p:extLst>
      <p:ext uri="{BB962C8B-B14F-4D97-AF65-F5344CB8AC3E}">
        <p14:creationId xmlns:p14="http://schemas.microsoft.com/office/powerpoint/2010/main" val="12681144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5C534-EBF5-4079-8077-B9C1C50FE6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4967d1a004831"/>
          <a:stretch xmlns:a="http://schemas.openxmlformats.org/drawingml/2006/main"/>
        </p:blipFill>
        <p:spPr>
          <a:xfrm xmlns:a="http://schemas.openxmlformats.org/drawingml/2006/main">
            <a:off x="504825" y="278130"/>
            <a:ext cx="1600200" cy="3200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C21E0-820F-4EBE-A44C-908671F2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РАЗДЕЛЕНИЕ ВОЗМОЖНОСТЕЙ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2FB7C-673B-477E-8587-C5BEA81E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866775"/>
            <a:ext cx="9696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1022"/>
                </a:solidFill>
                <a:latin typeface="Arial"/>
                <a:ea typeface="Arial"/>
                <a:cs typeface="Arial"/>
              </a:rPr>
              <a:t>Результаты ИИ</a:t>
            </a:r>
          </a:p>
          <a:p xmlns:a="http://schemas.openxmlformats.org/drawingml/2006/main">
            <a:pPr>
              <a:defRPr sz="3150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1022"/>
                </a:solidFill>
                <a:latin typeface="Arial"/>
                <a:ea typeface="Arial"/>
                <a:cs typeface="Arial"/>
              </a:rPr>
              <a:t>в документации API hh.ru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794CB-491E-48E6-9D30-EC384B03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6578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SKILLAZ 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89DD2-7605-4CE6-A8AF-0B495DF7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6578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rPr>
              <a:t>HH.RU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D73B5-A47F-4951-B667-F58E44D2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57850"/>
            <a:ext cx="79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03 / 10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2493D-2DCC-4C26-A42E-8A7098862515}"/>
              </a:ext>
            </a:extLst>
          </p:cNvPr>
          <p:cNvGraphicFramePr/>
          <p:nvPr/>
        </p:nvGraphicFramePr>
        <p:xfrm>
          <a:off xmlns:a="http://schemas.openxmlformats.org/drawingml/2006/main" x="504825" y="2085975"/>
          <a:ext xmlns:a="http://schemas.openxmlformats.org/drawingml/2006/main" cx="9686925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43463"/>
                <a:gridCol w="4843463"/>
              </a:tblGrid>
              <a:tr h="529590">
                <a:tc>
                  <a:txBody>
                    <a:bodyPr lIns="114300" tIns="114300" rIns="114300" bIns="114300"/>
                    <a:lstStyle/>
                    <a:p>
                      <a:r>
                        <a:rPr sz="1500" b="1">
                          <a:solidFill>
                            <a:srgbClr val="101022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 работы ИИ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DAD4"/>
                      </a:solidFill>
                      <a:prstDash val="solid"/>
                    </a:lnL>
                    <a:lnR w="5715">
                      <a:solidFill>
                        <a:srgbClr val="DCDAD4"/>
                      </a:solidFill>
                      <a:prstDash val="solid"/>
                    </a:lnR>
                    <a:lnT w="5715">
                      <a:solidFill>
                        <a:srgbClr val="DCDAD4"/>
                      </a:solidFill>
                      <a:prstDash val="solid"/>
                    </a:lnT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1">
                          <a:solidFill>
                            <a:srgbClr val="101022"/>
                          </a:solidFill>
                          <a:latin typeface="Arial"/>
                          <a:ea typeface="Arial"/>
                          <a:cs typeface="Arial"/>
                        </a:rPr>
                        <a:t>Данные в примере ответа API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DAD4"/>
                      </a:solidFill>
                      <a:prstDash val="solid"/>
                    </a:lnR>
                    <a:lnT w="5715">
                      <a:solidFill>
                        <a:srgbClr val="DCDAD4"/>
                      </a:solidFill>
                      <a:prstDash val="solid"/>
                    </a:lnT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</a:tr>
              <a:tr h="529590">
                <a:tc>
                  <a:txBody>
                    <a:bodyPr lIns="114300" tIns="114300" rIns="114300" bIns="114300"/>
                    <a:lstStyle/>
                    <a:p>
                      <a:r>
                        <a:rPr sz="1425" b="0">
                          <a:solidFill>
                            <a:srgbClr val="737C96"/>
                          </a:solidFill>
                          <a:latin typeface="Arial"/>
                          <a:ea typeface="Arial"/>
                          <a:cs typeface="Arial"/>
                        </a:rPr>
                        <a:t>Итог разбора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DAD4"/>
                      </a:solidFill>
                      <a:prstDash val="solid"/>
                    </a:lnL>
                    <a:lnR w="5715">
                      <a:solidFill>
                        <a:srgbClr val="DCDAD4"/>
                      </a:solidFill>
                      <a:prstDash val="solid"/>
                    </a:lnR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425" b="0">
                          <a:solidFill>
                            <a:srgbClr val="737C96"/>
                          </a:solidFill>
                          <a:latin typeface="Arial"/>
                          <a:ea typeface="Arial"/>
                          <a:cs typeface="Arial"/>
                        </a:rPr>
                        <a:t>Решение ИИ и краткая сводка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DAD4"/>
                      </a:solidFill>
                      <a:prstDash val="solid"/>
                    </a:lnR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F6F5F2"/>
                    </a:solidFill>
                  </a:tcPr>
                </a:tc>
              </a:tr>
              <a:tr h="529590">
                <a:tc>
                  <a:txBody>
                    <a:bodyPr lIns="114300" tIns="114300" rIns="114300" bIns="114300"/>
                    <a:lstStyle/>
                    <a:p>
                      <a:r>
                        <a:rPr sz="1425" b="0">
                          <a:solidFill>
                            <a:srgbClr val="737C96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требований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DAD4"/>
                      </a:solidFill>
                      <a:prstDash val="solid"/>
                    </a:lnL>
                    <a:lnR w="5715">
                      <a:solidFill>
                        <a:srgbClr val="DCDAD4"/>
                      </a:solidFill>
                      <a:prstDash val="solid"/>
                    </a:lnR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425" b="0">
                          <a:solidFill>
                            <a:srgbClr val="737C96"/>
                          </a:solidFill>
                          <a:latin typeface="Arial"/>
                          <a:ea typeface="Arial"/>
                          <a:cs typeface="Arial"/>
                        </a:rPr>
                        <a:t>Критерии и степень выполнения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DAD4"/>
                      </a:solidFill>
                      <a:prstDash val="solid"/>
                    </a:lnR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F6F5F2"/>
                    </a:solidFill>
                  </a:tcPr>
                </a:tc>
              </a:tr>
              <a:tr h="529590">
                <a:tc>
                  <a:txBody>
                    <a:bodyPr lIns="114300" tIns="114300" rIns="114300" bIns="114300"/>
                    <a:lstStyle/>
                    <a:p>
                      <a:r>
                        <a:rPr sz="1425" b="0">
                          <a:solidFill>
                            <a:srgbClr val="737C96"/>
                          </a:solidFill>
                          <a:latin typeface="Arial"/>
                          <a:ea typeface="Arial"/>
                          <a:cs typeface="Arial"/>
                        </a:rPr>
                        <a:t>Основания оценки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DAD4"/>
                      </a:solidFill>
                      <a:prstDash val="solid"/>
                    </a:lnL>
                    <a:lnR w="5715">
                      <a:solidFill>
                        <a:srgbClr val="DCDAD4"/>
                      </a:solidFill>
                      <a:prstDash val="solid"/>
                    </a:lnR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425" b="0">
                          <a:solidFill>
                            <a:srgbClr val="737C96"/>
                          </a:solidFill>
                          <a:latin typeface="Arial"/>
                          <a:ea typeface="Arial"/>
                          <a:cs typeface="Arial"/>
                        </a:rPr>
                        <a:t>Объяснение и источник информации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DAD4"/>
                      </a:solidFill>
                      <a:prstDash val="solid"/>
                    </a:lnR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F6F5F2"/>
                    </a:solidFill>
                  </a:tcPr>
                </a:tc>
              </a:tr>
              <a:tr h="529590">
                <a:tc>
                  <a:txBody>
                    <a:bodyPr lIns="114300" tIns="114300" rIns="114300" bIns="114300"/>
                    <a:lstStyle/>
                    <a:p>
                      <a:r>
                        <a:rPr sz="1425" b="0">
                          <a:solidFill>
                            <a:srgbClr val="737C96"/>
                          </a:solidFill>
                          <a:latin typeface="Arial"/>
                          <a:ea typeface="Arial"/>
                          <a:cs typeface="Arial"/>
                        </a:rPr>
                        <a:t>Ответы кандидата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DAD4"/>
                      </a:solidFill>
                      <a:prstDash val="solid"/>
                    </a:lnL>
                    <a:lnR w="5715">
                      <a:solidFill>
                        <a:srgbClr val="DCDAD4"/>
                      </a:solidFill>
                      <a:prstDash val="solid"/>
                    </a:lnR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425" b="0">
                          <a:solidFill>
                            <a:srgbClr val="737C96"/>
                          </a:solidFill>
                          <a:latin typeface="Arial"/>
                          <a:ea typeface="Arial"/>
                          <a:cs typeface="Arial"/>
                        </a:rPr>
                        <a:t>Вопросы и цитаты ответов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DAD4"/>
                      </a:solidFill>
                      <a:prstDash val="solid"/>
                    </a:lnR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F6F5F2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20C70-87F5-4C7B-98F9-3DB4D926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133975"/>
            <a:ext cx="969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Публичный пример API описывает получение результатов ИИ.</a:t>
            </a:r>
          </a:p>
        </p:txBody>
      </p:sp>
    </p:spTree>
    <p:extLst>
      <p:ext uri="{BB962C8B-B14F-4D97-AF65-F5344CB8AC3E}">
        <p14:creationId xmlns:p14="http://schemas.microsoft.com/office/powerpoint/2010/main" val="3646001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A4182-4740-4E70-B917-EA29F8BB52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30e2231ff4f95"/>
          <a:stretch xmlns:a="http://schemas.openxmlformats.org/drawingml/2006/main"/>
        </p:blipFill>
        <p:spPr>
          <a:xfrm xmlns:a="http://schemas.openxmlformats.org/drawingml/2006/main">
            <a:off x="504825" y="278130"/>
            <a:ext cx="1600200" cy="3200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09D0A-8109-4AC8-AC5D-EC22D641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ПРОЦЕСС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2CCDF-0BD7-4F92-AC02-A435F7D6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866775"/>
            <a:ext cx="9696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1022"/>
                </a:solidFill>
                <a:latin typeface="Arial"/>
                <a:ea typeface="Arial"/>
                <a:cs typeface="Arial"/>
              </a:rPr>
              <a:t>Получение результатов 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DED11-A9D1-4E8A-8955-E0865A23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6578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SKILLAZ 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CAEAD-D163-4886-BE53-5BFDB865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6578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rPr>
              <a:t>HH.RU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B0571-5158-4010-903B-E7BAEDBE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57850"/>
            <a:ext cx="79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04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7FCB3-9919-4896-9C57-A5232856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8097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0102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1022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101022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E418D-F9F6-4DAB-A5E7-C1B80961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Настройка в hh.ru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B52AB-A5BA-4724-B09F-06979F78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526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Критерии разбора и вопросы задаются в интерфейсе hh.ru.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891B1-133C-49EB-A812-9BEFFAF5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7051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0102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1022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101022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624B1-E903-4C31-856D-D5256B78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051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Разбор и диалог в hh.ru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C47B4-02B4-46ED-A04A-5FCA45F3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ИИ сопоставляет резюме с требованиями и уточняет недостающие сведения.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144EF-40A6-47C4-9535-3A5B6B2D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6004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0102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1022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101022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16AF3B-1CCF-4BD2-AEE6-079937DE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004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Данные в API hh.ru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C35D9-4620-4290-8C36-F60E5900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В примерах ответа на запрос отклика есть оценка и ответы кандидата.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0D549-BEE5-4F7B-9E97-B33AA4A6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4958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0102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1022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101022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52903-E7B1-46A2-ABA9-06570566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95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Решение рекрутёра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067FF0-2DCC-4801-9A56-CE7759A8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387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Рекрутёр проверяет информацию и выбирает следующий этап.</a:t>
            </a:r>
          </a:p>
        </p:txBody>
      </p:sp>
    </p:spTree>
    <p:extLst>
      <p:ext uri="{BB962C8B-B14F-4D97-AF65-F5344CB8AC3E}">
        <p14:creationId xmlns:p14="http://schemas.microsoft.com/office/powerpoint/2010/main" val="11600102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7DC38-44DE-470E-B673-798EA14257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be6a5aaff4865"/>
          <a:stretch xmlns:a="http://schemas.openxmlformats.org/drawingml/2006/main"/>
        </p:blipFill>
        <p:spPr>
          <a:xfrm xmlns:a="http://schemas.openxmlformats.org/drawingml/2006/main">
            <a:off x="504825" y="278130"/>
            <a:ext cx="1600200" cy="3200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A527E-ADBF-44A6-842D-A27A2165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НЕЙРОРАЗБОР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43011-C359-4002-A113-5D8BCAD8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866775"/>
            <a:ext cx="9696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1022"/>
                </a:solidFill>
                <a:latin typeface="Arial"/>
                <a:ea typeface="Arial"/>
                <a:cs typeface="Arial"/>
              </a:rPr>
              <a:t>Результат разбора и его основания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655EA-1B89-4C59-BBD7-D97FBAEA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6578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SKILLAZ 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7D3BF-B0AA-4B99-88D2-A390D5FA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6578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rPr>
              <a:t>HH.RU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280BA-0330-4BE2-9A8E-32315BA3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57850"/>
            <a:ext cx="79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05 / 10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390E3-AC19-45F1-BCAF-F7D650FD08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eaa9daf6343a7"/>
          <a:stretch xmlns:a="http://schemas.openxmlformats.org/drawingml/2006/main"/>
        </p:blipFill>
        <p:spPr>
          <a:xfrm xmlns:a="http://schemas.openxmlformats.org/drawingml/2006/main">
            <a:off x="825515" y="1905000"/>
            <a:ext cx="5807045" cy="3219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664A7-B273-4097-B30F-74026BA1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764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Категория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B48CA-55D3-4974-9E7E-0E498690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574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Помогает выбрать</a:t>
            </a:r>
          </a:p>
          <a:p xmlns:a="http://schemas.openxmlformats.org/drawingml/2006/main">
            <a:pPr>
              <a:defRPr sz="16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приоритет просмотра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0887D-038B-4702-BB33-44961A02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528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Критерии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356BA-2ABC-455A-A378-4D6BC4EC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338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Показывают основания</a:t>
            </a:r>
          </a:p>
          <a:p xmlns:a="http://schemas.openxmlformats.org/drawingml/2006/main">
            <a:pPr>
              <a:defRPr sz="16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оценки кандидата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8DA57-F17A-439C-B693-4E8064CD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219700"/>
            <a:ext cx="969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Иллюстрация из исходной презентации. Решение принимает рекрутёр.</a:t>
            </a:r>
          </a:p>
        </p:txBody>
      </p:sp>
    </p:spTree>
    <p:extLst>
      <p:ext uri="{BB962C8B-B14F-4D97-AF65-F5344CB8AC3E}">
        <p14:creationId xmlns:p14="http://schemas.microsoft.com/office/powerpoint/2010/main" val="9616852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F5143-3BC6-470D-BA67-57B2F0C183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ba37cf19d43af"/>
          <a:stretch xmlns:a="http://schemas.openxmlformats.org/drawingml/2006/main"/>
        </p:blipFill>
        <p:spPr>
          <a:xfrm xmlns:a="http://schemas.openxmlformats.org/drawingml/2006/main">
            <a:off x="504825" y="278130"/>
            <a:ext cx="1600200" cy="3200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F4053-F8A9-448F-BC70-DBE4B049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ДООПРОС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4AE56-6168-4A30-9843-109768C8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866775"/>
            <a:ext cx="9696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1022"/>
                </a:solidFill>
                <a:latin typeface="Arial"/>
                <a:ea typeface="Arial"/>
                <a:cs typeface="Arial"/>
              </a:rPr>
              <a:t>Вопросы и ответы</a:t>
            </a:r>
          </a:p>
          <a:p xmlns:a="http://schemas.openxmlformats.org/drawingml/2006/main">
            <a:pPr>
              <a:defRPr sz="3150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1022"/>
                </a:solidFill>
                <a:latin typeface="Arial"/>
                <a:ea typeface="Arial"/>
                <a:cs typeface="Arial"/>
              </a:rPr>
              <a:t>в результатах доопроса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5F930-A7D5-4DB2-8097-AB6E20F6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6578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SKILLAZ 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3F2B9-AC5A-4AB8-9BB3-B9704824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6578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rPr>
              <a:t>HH.RU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04116-990A-4947-A3AC-64220820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57850"/>
            <a:ext cx="79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06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91FE8-5B5D-457A-8B23-C420B807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343150"/>
            <a:ext cx="2886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ВОПРОС В ЧАТЕ HH.RU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6D026-A42F-48DD-A2DD-D8313D72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828925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C615F-DE81-41DD-9D58-A6F97C9D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152775"/>
            <a:ext cx="2867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«Готовы работать</a:t>
            </a:r>
          </a:p>
          <a:p xmlns:a="http://schemas.openxmlformats.org/drawingml/2006/main">
            <a:pPr>
              <a:defRPr sz="20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по графику 2/2?»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8976E-D69E-4B62-883F-4F0A0A6F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43150"/>
            <a:ext cx="2886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ОТВЕТ КАНДИДАТА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99A78-A22E-40B0-A277-3C0ED558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28925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4DB80-EDA6-4EA2-B4D8-6D91668B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52775"/>
            <a:ext cx="2867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«Да, такой график</a:t>
            </a:r>
          </a:p>
          <a:p xmlns:a="http://schemas.openxmlformats.org/drawingml/2006/main">
            <a:pPr>
              <a:defRPr sz="20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мне подходит»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649582-37CF-4F0C-9DB3-2BF378CD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343150"/>
            <a:ext cx="2886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ДАННЫЕ В API HH.RU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46C69-22BF-4EE9-A478-90663DAF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828925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82F41-562F-48DC-BA47-D949DA61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152775"/>
            <a:ext cx="2867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Вопрос</a:t>
            </a:r>
          </a:p>
          <a:p xmlns:a="http://schemas.openxmlformats.org/drawingml/2006/main">
            <a:pPr>
              <a:defRPr sz="20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и цитата ответа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6132B-A699-4163-B69E-57B9E572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362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Иллюстративный пример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62DF9A-691B-4443-9765-AAC49EE7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133975"/>
            <a:ext cx="969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В примере API ответ сохраняется вместе с вопросом работодателя.</a:t>
            </a:r>
          </a:p>
        </p:txBody>
      </p:sp>
    </p:spTree>
    <p:extLst>
      <p:ext uri="{BB962C8B-B14F-4D97-AF65-F5344CB8AC3E}">
        <p14:creationId xmlns:p14="http://schemas.microsoft.com/office/powerpoint/2010/main" val="15940444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CC885-3CC9-4A36-B75A-8C2C349D04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4ac867d89c40cb"/>
          <a:stretch xmlns:a="http://schemas.openxmlformats.org/drawingml/2006/main"/>
        </p:blipFill>
        <p:spPr>
          <a:xfrm xmlns:a="http://schemas.openxmlformats.org/drawingml/2006/main">
            <a:off x="504825" y="278130"/>
            <a:ext cx="1600200" cy="3200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60800-336F-48DE-A6CA-DA18F7C2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ОСНОВАНИЯ ОЦЕНКИ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0B848-5F39-44B6-BFD5-A19C8A1B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866775"/>
            <a:ext cx="9696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1022"/>
                </a:solidFill>
                <a:latin typeface="Arial"/>
                <a:ea typeface="Arial"/>
                <a:cs typeface="Arial"/>
              </a:rPr>
              <a:t>Что объясняет оценку кандидата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BBAF3-79E2-4E06-B6B0-D8E476CF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6578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SKILLAZ 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01FB1-5BBD-47C3-ACBC-DCBB7C51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6578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rPr>
              <a:t>HH.RU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D89B2-2423-45BC-A69A-0F844DAF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57850"/>
            <a:ext cx="79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07 / 10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4869F-7EFC-423E-B4D4-FE5D92044F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20c2a4942481e"/>
          <a:stretch xmlns:a="http://schemas.openxmlformats.org/drawingml/2006/main"/>
        </p:blipFill>
        <p:spPr>
          <a:xfrm xmlns:a="http://schemas.openxmlformats.org/drawingml/2006/main">
            <a:off x="506214" y="2085975"/>
            <a:ext cx="5331222" cy="1924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DC815-8B23-4811-8EAC-C7394839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481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Проверка оснований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D2CFD-5D6F-4025-9E1C-49E7D93A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638675"/>
            <a:ext cx="538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Иллюстрация из исходной презентации.</a:t>
            </a:r>
          </a:p>
          <a:p xmlns:a="http://schemas.openxmlformats.org/drawingml/2006/main">
            <a:pPr>
              <a:defRPr sz="157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Рекрутёр проверяет выводы ИИ.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A5491-F5DF-4771-808F-32C5D7B4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ДАННЫЕ ПО КРИТЕРИЮ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35D20-4694-4BB1-BDB7-F688CF0A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574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49519-C932-4238-9FD3-C3D1368B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574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022"/>
                </a:solidFill>
                <a:latin typeface="Arial"/>
                <a:ea typeface="Arial"/>
                <a:cs typeface="Arial"/>
              </a:rPr>
              <a:t>Выполнение требования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8FD4D-6CB4-4EEA-939A-AED78C6D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90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85803-D6AC-4BE0-AF65-E83080A0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909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022"/>
                </a:solidFill>
                <a:latin typeface="Arial"/>
                <a:ea typeface="Arial"/>
                <a:cs typeface="Arial"/>
              </a:rPr>
              <a:t>Объяснение оценки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019DA8-C984-4A06-AB00-8BBAD939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243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FB0FC-AF1D-4B56-9CF6-62C0651A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243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022"/>
                </a:solidFill>
                <a:latin typeface="Arial"/>
                <a:ea typeface="Arial"/>
                <a:cs typeface="Arial"/>
              </a:rPr>
              <a:t>Источник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11219405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FA2A6-536F-4382-AC8A-1A90ACCA6A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695abb22f42cf"/>
          <a:stretch xmlns:a="http://schemas.openxmlformats.org/drawingml/2006/main"/>
        </p:blipFill>
        <p:spPr>
          <a:xfrm xmlns:a="http://schemas.openxmlformats.org/drawingml/2006/main">
            <a:off x="504825" y="278130"/>
            <a:ext cx="1600200" cy="3200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708B0-2217-428C-BF84-B41B0E62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ОЦЕНКА ПОЛЬЗЫ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CA2ED-930E-48FB-A58C-291A33D7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866775"/>
            <a:ext cx="9696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1022"/>
                </a:solidFill>
                <a:latin typeface="Arial"/>
                <a:ea typeface="Arial"/>
                <a:cs typeface="Arial"/>
              </a:rPr>
              <a:t>Как измерить пользу интеграции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D73E0-7E14-47E3-85FE-F8F57B28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6578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SKILLAZ 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FF9EA-BEB2-42B6-B87D-25C694F7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6578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rPr>
              <a:t>HH.RU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251F7-42D7-452C-94BE-CB3617C1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57850"/>
            <a:ext cx="79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08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5D3F4-FDEC-4A6E-94E3-7C1EBF2E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573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План замеров для пилота интеграции со Skillaz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6BD13-D63A-4077-89FF-E1567142A431}"/>
              </a:ext>
            </a:extLst>
          </p:cNvPr>
          <p:cNvGraphicFramePr/>
          <p:nvPr/>
        </p:nvGraphicFramePr>
        <p:xfrm>
          <a:off xmlns:a="http://schemas.openxmlformats.org/drawingml/2006/main" x="504825" y="2181225"/>
          <a:ext xmlns:a="http://schemas.openxmlformats.org/drawingml/2006/main" cx="9686925" cy="2419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10125"/>
                <a:gridCol w="2438400"/>
                <a:gridCol w="2438400"/>
              </a:tblGrid>
              <a:tr h="403225">
                <a:tc>
                  <a:txBody>
                    <a:bodyPr lIns="114300" tIns="114300" rIns="114300" bIns="114300"/>
                    <a:lstStyle/>
                    <a:p>
                      <a:r>
                        <a:rPr sz="1500" b="1">
                          <a:solidFill>
                            <a:srgbClr val="101022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DAD4"/>
                      </a:solidFill>
                      <a:prstDash val="solid"/>
                    </a:lnL>
                    <a:lnR w="5715">
                      <a:solidFill>
                        <a:srgbClr val="DCDAD4"/>
                      </a:solidFill>
                      <a:prstDash val="solid"/>
                    </a:lnR>
                    <a:lnT w="5715">
                      <a:solidFill>
                        <a:srgbClr val="DCDAD4"/>
                      </a:solidFill>
                      <a:prstDash val="solid"/>
                    </a:lnT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1">
                          <a:solidFill>
                            <a:srgbClr val="101022"/>
                          </a:solidFill>
                          <a:latin typeface="Arial"/>
                          <a:ea typeface="Arial"/>
                          <a:cs typeface="Arial"/>
                        </a:rPr>
                        <a:t>До интеграции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DAD4"/>
                      </a:solidFill>
                      <a:prstDash val="solid"/>
                    </a:lnR>
                    <a:lnT w="5715">
                      <a:solidFill>
                        <a:srgbClr val="DCDAD4"/>
                      </a:solidFill>
                      <a:prstDash val="solid"/>
                    </a:lnT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 b="1">
                          <a:solidFill>
                            <a:srgbClr val="101022"/>
                          </a:solidFill>
                          <a:latin typeface="Arial"/>
                          <a:ea typeface="Arial"/>
                          <a:cs typeface="Arial"/>
                        </a:rPr>
                        <a:t>С интеграцией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DAD4"/>
                      </a:solidFill>
                      <a:prstDash val="solid"/>
                    </a:lnR>
                    <a:lnT w="5715">
                      <a:solidFill>
                        <a:srgbClr val="DCDAD4"/>
                      </a:solidFill>
                      <a:prstDash val="solid"/>
                    </a:lnT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ECE9DF"/>
                    </a:solidFill>
                  </a:tcPr>
                </a:tc>
              </a:tr>
              <a:tr h="403225">
                <a:tc>
                  <a:txBody>
                    <a:bodyPr lIns="114300" tIns="114300" rIns="114300" bIns="114300"/>
                    <a:lstStyle/>
                    <a:p>
                      <a:r>
                        <a:rPr sz="1425" b="0">
                          <a:solidFill>
                            <a:srgbClr val="737C96"/>
                          </a:solidFill>
                          <a:latin typeface="Arial"/>
                          <a:ea typeface="Arial"/>
                          <a:cs typeface="Arial"/>
                        </a:rPr>
                        <a:t>Ручное время на отклик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DAD4"/>
                      </a:solidFill>
                      <a:prstDash val="solid"/>
                    </a:lnL>
                    <a:lnR w="5715">
                      <a:solidFill>
                        <a:srgbClr val="DCDAD4"/>
                      </a:solidFill>
                      <a:prstDash val="solid"/>
                    </a:lnR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425" b="0">
                          <a:solidFill>
                            <a:srgbClr val="737C96"/>
                          </a:solidFill>
                          <a:latin typeface="Arial"/>
                          <a:ea typeface="Arial"/>
                          <a:cs typeface="Arial"/>
                        </a:rPr>
                        <a:t>Замер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DAD4"/>
                      </a:solidFill>
                      <a:prstDash val="solid"/>
                    </a:lnR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425" b="0">
                          <a:solidFill>
                            <a:srgbClr val="737C96"/>
                          </a:solidFill>
                          <a:latin typeface="Arial"/>
                          <a:ea typeface="Arial"/>
                          <a:cs typeface="Arial"/>
                        </a:rPr>
                        <a:t>Замер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DAD4"/>
                      </a:solidFill>
                      <a:prstDash val="solid"/>
                    </a:lnR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F6F5F2"/>
                    </a:solidFill>
                  </a:tcPr>
                </a:tc>
              </a:tr>
              <a:tr h="403225">
                <a:tc>
                  <a:txBody>
                    <a:bodyPr lIns="114300" tIns="114300" rIns="114300" bIns="114300"/>
                    <a:lstStyle/>
                    <a:p>
                      <a:r>
                        <a:rPr sz="1425" b="0">
                          <a:solidFill>
                            <a:srgbClr val="737C96"/>
                          </a:solidFill>
                          <a:latin typeface="Arial"/>
                          <a:ea typeface="Arial"/>
                          <a:cs typeface="Arial"/>
                        </a:rPr>
                        <a:t>Перенос данных между системами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DAD4"/>
                      </a:solidFill>
                      <a:prstDash val="solid"/>
                    </a:lnL>
                    <a:lnR w="5715">
                      <a:solidFill>
                        <a:srgbClr val="DCDAD4"/>
                      </a:solidFill>
                      <a:prstDash val="solid"/>
                    </a:lnR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425" b="0">
                          <a:solidFill>
                            <a:srgbClr val="737C96"/>
                          </a:solidFill>
                          <a:latin typeface="Arial"/>
                          <a:ea typeface="Arial"/>
                          <a:cs typeface="Arial"/>
                        </a:rPr>
                        <a:t>Замер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DAD4"/>
                      </a:solidFill>
                      <a:prstDash val="solid"/>
                    </a:lnR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425" b="0">
                          <a:solidFill>
                            <a:srgbClr val="737C96"/>
                          </a:solidFill>
                          <a:latin typeface="Arial"/>
                          <a:ea typeface="Arial"/>
                          <a:cs typeface="Arial"/>
                        </a:rPr>
                        <a:t>Замер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DAD4"/>
                      </a:solidFill>
                      <a:prstDash val="solid"/>
                    </a:lnR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F6F5F2"/>
                    </a:solidFill>
                  </a:tcPr>
                </a:tc>
              </a:tr>
              <a:tr h="403225">
                <a:tc>
                  <a:txBody>
                    <a:bodyPr lIns="114300" tIns="114300" rIns="114300" bIns="114300"/>
                    <a:lstStyle/>
                    <a:p>
                      <a:r>
                        <a:rPr sz="1425" b="0">
                          <a:solidFill>
                            <a:srgbClr val="737C96"/>
                          </a:solidFill>
                          <a:latin typeface="Arial"/>
                          <a:ea typeface="Arial"/>
                          <a:cs typeface="Arial"/>
                        </a:rPr>
                        <a:t>Полнота карточки кандидата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DAD4"/>
                      </a:solidFill>
                      <a:prstDash val="solid"/>
                    </a:lnL>
                    <a:lnR w="5715">
                      <a:solidFill>
                        <a:srgbClr val="DCDAD4"/>
                      </a:solidFill>
                      <a:prstDash val="solid"/>
                    </a:lnR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425" b="0">
                          <a:solidFill>
                            <a:srgbClr val="737C96"/>
                          </a:solidFill>
                          <a:latin typeface="Arial"/>
                          <a:ea typeface="Arial"/>
                          <a:cs typeface="Arial"/>
                        </a:rPr>
                        <a:t>Замер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DAD4"/>
                      </a:solidFill>
                      <a:prstDash val="solid"/>
                    </a:lnR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425" b="0">
                          <a:solidFill>
                            <a:srgbClr val="737C96"/>
                          </a:solidFill>
                          <a:latin typeface="Arial"/>
                          <a:ea typeface="Arial"/>
                          <a:cs typeface="Arial"/>
                        </a:rPr>
                        <a:t>Замер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DAD4"/>
                      </a:solidFill>
                      <a:prstDash val="solid"/>
                    </a:lnR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F6F5F2"/>
                    </a:solidFill>
                  </a:tcPr>
                </a:tc>
              </a:tr>
              <a:tr h="403225">
                <a:tc>
                  <a:txBody>
                    <a:bodyPr lIns="114300" tIns="114300" rIns="114300" bIns="114300"/>
                    <a:lstStyle/>
                    <a:p>
                      <a:r>
                        <a:rPr sz="1425" b="0">
                          <a:solidFill>
                            <a:srgbClr val="737C96"/>
                          </a:solidFill>
                          <a:latin typeface="Arial"/>
                          <a:ea typeface="Arial"/>
                          <a:cs typeface="Arial"/>
                        </a:rPr>
                        <a:t>Время до следующего этапа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DAD4"/>
                      </a:solidFill>
                      <a:prstDash val="solid"/>
                    </a:lnL>
                    <a:lnR w="5715">
                      <a:solidFill>
                        <a:srgbClr val="DCDAD4"/>
                      </a:solidFill>
                      <a:prstDash val="solid"/>
                    </a:lnR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425" b="0">
                          <a:solidFill>
                            <a:srgbClr val="737C96"/>
                          </a:solidFill>
                          <a:latin typeface="Arial"/>
                          <a:ea typeface="Arial"/>
                          <a:cs typeface="Arial"/>
                        </a:rPr>
                        <a:t>Замер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DAD4"/>
                      </a:solidFill>
                      <a:prstDash val="solid"/>
                    </a:lnR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425" b="0">
                          <a:solidFill>
                            <a:srgbClr val="737C96"/>
                          </a:solidFill>
                          <a:latin typeface="Arial"/>
                          <a:ea typeface="Arial"/>
                          <a:cs typeface="Arial"/>
                        </a:rPr>
                        <a:t>Замер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DAD4"/>
                      </a:solidFill>
                      <a:prstDash val="solid"/>
                    </a:lnR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F6F5F2"/>
                    </a:solidFill>
                  </a:tcPr>
                </a:tc>
              </a:tr>
              <a:tr h="403225">
                <a:tc>
                  <a:txBody>
                    <a:bodyPr lIns="114300" tIns="114300" rIns="114300" bIns="114300"/>
                    <a:lstStyle/>
                    <a:p>
                      <a:r>
                        <a:rPr sz="1425" b="0">
                          <a:solidFill>
                            <a:srgbClr val="737C96"/>
                          </a:solidFill>
                          <a:latin typeface="Arial"/>
                          <a:ea typeface="Arial"/>
                          <a:cs typeface="Arial"/>
                        </a:rPr>
                        <a:t>Доля ручных корректировок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CDAD4"/>
                      </a:solidFill>
                      <a:prstDash val="solid"/>
                    </a:lnL>
                    <a:lnR w="5715">
                      <a:solidFill>
                        <a:srgbClr val="DCDAD4"/>
                      </a:solidFill>
                      <a:prstDash val="solid"/>
                    </a:lnR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425" b="0">
                          <a:solidFill>
                            <a:srgbClr val="737C96"/>
                          </a:solidFill>
                          <a:latin typeface="Arial"/>
                          <a:ea typeface="Arial"/>
                          <a:cs typeface="Arial"/>
                        </a:rPr>
                        <a:t>Замер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DAD4"/>
                      </a:solidFill>
                      <a:prstDash val="solid"/>
                    </a:lnR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425" b="0">
                          <a:solidFill>
                            <a:srgbClr val="737C96"/>
                          </a:solidFill>
                          <a:latin typeface="Arial"/>
                          <a:ea typeface="Arial"/>
                          <a:cs typeface="Arial"/>
                        </a:rPr>
                        <a:t>Замер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CDAD4"/>
                      </a:solidFill>
                      <a:prstDash val="solid"/>
                    </a:lnR>
                    <a:lnB w="5715">
                      <a:solidFill>
                        <a:srgbClr val="DCDAD4"/>
                      </a:solidFill>
                      <a:prstDash val="solid"/>
                    </a:lnB>
                    <a:solidFill>
                      <a:srgbClr val="F6F5F2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4F3A0-238D-4859-9684-98063EE3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886325"/>
            <a:ext cx="96869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49282-E97A-4CE1-8C75-C13A83AD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9353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Отклики × сэкономленные минуты ÷ 60 = высвобождённые часы</a:t>
            </a:r>
          </a:p>
        </p:txBody>
      </p:sp>
    </p:spTree>
    <p:extLst>
      <p:ext uri="{BB962C8B-B14F-4D97-AF65-F5344CB8AC3E}">
        <p14:creationId xmlns:p14="http://schemas.microsoft.com/office/powerpoint/2010/main" val="9388020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10650D-94C2-400C-926F-422AF58BCE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1d046029349c9"/>
          <a:stretch xmlns:a="http://schemas.openxmlformats.org/drawingml/2006/main"/>
        </p:blipFill>
        <p:spPr>
          <a:xfrm xmlns:a="http://schemas.openxmlformats.org/drawingml/2006/main">
            <a:off x="504825" y="278130"/>
            <a:ext cx="1600200" cy="3200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6FC9A-AFD0-487D-A4E0-BADD320F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ПОДГОТОВКА К ПОДКЛЮЧЕНИЮ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F34E2-CBDB-40EC-9FBE-F8165B23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866775"/>
            <a:ext cx="9696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1022"/>
                </a:solidFill>
                <a:latin typeface="Arial"/>
                <a:ea typeface="Arial"/>
                <a:cs typeface="Arial"/>
              </a:rPr>
              <a:t>Что оценить перед подключением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B74D9-8F29-4EBD-B930-FB4B4187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6578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SKILLAZ 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2DA60-ABFE-47E3-9641-9C25B7C6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6578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rPr>
              <a:t>HH.RU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6D96F-417D-4605-BC60-7184E42B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57850"/>
            <a:ext cx="79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09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810C0-31CE-4AFA-82BB-CE994658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143125"/>
            <a:ext cx="28479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15142-DD76-4F40-A6BF-EBD46C21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447925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Процесс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DF655-5218-4D38-B5D3-CFE73A24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067050"/>
            <a:ext cx="2867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Ручные действия.</a:t>
            </a:r>
          </a:p>
          <a:p xmlns:a="http://schemas.openxmlformats.org/drawingml/2006/main">
            <a:pPr>
              <a:defRPr sz="16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Переключения систем.</a:t>
            </a:r>
          </a:p>
          <a:p xmlns:a="http://schemas.openxmlformats.org/drawingml/2006/main">
            <a:pPr>
              <a:defRPr sz="16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Время на один отклик.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6EC70-4E90-48BE-890D-7E7C3540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43125"/>
            <a:ext cx="28479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16DF8-0FCD-48FB-ACE8-DC0AF14D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47925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11252-93BC-471F-B2E6-576DB1D2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2867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Какие результаты ИИ</a:t>
            </a:r>
          </a:p>
          <a:p xmlns:a="http://schemas.openxmlformats.org/drawingml/2006/main">
            <a:pPr>
              <a:defRPr sz="16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нужны рекрутёру</a:t>
            </a:r>
          </a:p>
          <a:p xmlns:a="http://schemas.openxmlformats.org/drawingml/2006/main">
            <a:pPr>
              <a:defRPr sz="16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для следующего шага.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DD5B2-8CCD-49FC-8FD2-2339C222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143125"/>
            <a:ext cx="28479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A3FA8-16DC-4236-A780-0371DEFD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447925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Экономика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442C3-DCB1-4CE3-BE95-00D4EF12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067050"/>
            <a:ext cx="2867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Ожидаемая экономия</a:t>
            </a:r>
          </a:p>
          <a:p xmlns:a="http://schemas.openxmlformats.org/drawingml/2006/main">
            <a:pPr>
              <a:defRPr sz="16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времени и полная</a:t>
            </a:r>
          </a:p>
          <a:p xmlns:a="http://schemas.openxmlformats.org/drawingml/2006/main">
            <a:pPr>
              <a:defRPr sz="16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стоимость подключения.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945637-C7B0-41B9-B142-C998933E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133975"/>
            <a:ext cx="969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Основа решения — результаты пилота и согласованное предложение.</a:t>
            </a:r>
          </a:p>
        </p:txBody>
      </p:sp>
    </p:spTree>
    <p:extLst>
      <p:ext uri="{BB962C8B-B14F-4D97-AF65-F5344CB8AC3E}">
        <p14:creationId xmlns:p14="http://schemas.microsoft.com/office/powerpoint/2010/main" val="2114058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D92C47-6A89-48F6-833F-48C2338DD1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6431a3f894f28"/>
          <a:stretch xmlns:a="http://schemas.openxmlformats.org/drawingml/2006/main"/>
        </p:blipFill>
        <p:spPr>
          <a:xfrm xmlns:a="http://schemas.openxmlformats.org/drawingml/2006/main">
            <a:off x="504825" y="278130"/>
            <a:ext cx="1600200" cy="3200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6C61A-958B-4AE1-BA68-2D44F410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ПИЛОТ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91C62-3109-4500-910A-914D486B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6578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SKILLAZ 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6A9FE-924E-4181-9C09-CBA571F4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6578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E60023"/>
                </a:solidFill>
                <a:latin typeface="Courier New"/>
                <a:ea typeface="Courier New"/>
                <a:cs typeface="Courier New"/>
              </a:rPr>
              <a:t>HH.RU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A445C-A8CB-460E-B028-5C93C4DF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57850"/>
            <a:ext cx="790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737C96"/>
                </a:solidFill>
                <a:latin typeface="Courier New"/>
                <a:ea typeface="Courier New"/>
                <a:cs typeface="Courier New"/>
              </a:rPr>
              <a:t>10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EF101-D76F-4C9D-ABBA-4F3D5FF5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71550"/>
            <a:ext cx="10692384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861D7-E52E-42C8-B440-A00AFD35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31445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Пилот интеграции со Skillaz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DFCBB-B7B6-4899-BC0A-A5FB55F6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600325"/>
            <a:ext cx="447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10102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01022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>
                <a:solidFill>
                  <a:srgbClr val="101022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85707-F9EF-44B3-A833-16D11F1C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003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Выбор процесса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66444-230E-4D69-B963-62258158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032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Команда, вакансии и объём откликов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E5E12-9DA9-47C4-A6AC-4AF55A1E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190875"/>
            <a:ext cx="447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10102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01022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>
                <a:solidFill>
                  <a:srgbClr val="101022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1628E-4B39-42B9-ADD4-EB9F225C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908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Подготовка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678793-9CEE-494F-A130-DEE18831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908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Тестовый отклик и проверка получения данных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4F246-653A-4F2F-A845-584105E7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781425"/>
            <a:ext cx="447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10102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01022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>
                <a:solidFill>
                  <a:srgbClr val="101022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77212-140F-4DAE-8476-1E3D50A0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814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Пилот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2FF0EF-1E4B-47AE-BFFD-A860B74C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8142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Исходные показатели и изменения в работе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1201B8-D20B-4D16-A6CB-3D1B74D4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371975"/>
            <a:ext cx="447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10102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01022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>
                <a:solidFill>
                  <a:srgbClr val="101022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2EA530-5379-4A2E-BCB4-87C3BD05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719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Оценка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19D480-92F4-4506-BDE9-EBD63023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719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737C9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37C96"/>
                </a:solidFill>
                <a:latin typeface="Arial"/>
                <a:ea typeface="Arial"/>
                <a:cs typeface="Arial"/>
              </a:rPr>
              <a:t>Высвобождённое время и стоимость использования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497242-C585-473D-A209-51EAD3E1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22922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010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022"/>
                </a:solidFill>
                <a:latin typeface="Arial"/>
                <a:ea typeface="Arial"/>
                <a:cs typeface="Arial"/>
              </a:rPr>
              <a:t>Следующий шаг: рабочая встреча по сценарию и условиям пилота</a:t>
            </a:r>
          </a:p>
        </p:txBody>
      </p:sp>
    </p:spTree>
    <p:extLst>
      <p:ext uri="{BB962C8B-B14F-4D97-AF65-F5344CB8AC3E}">
        <p14:creationId xmlns:p14="http://schemas.microsoft.com/office/powerpoint/2010/main" val="8751019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2026-10-16T11:14:23.1250000Z</dcterms:created>
  <dcterms:modified xsi:type="dcterms:W3CDTF">2026-10-16T11:14:23.1250000Z</dcterms:modified>
</coreProperties>
</file>