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466433aeca24f13" /><Relationship Type="http://schemas.openxmlformats.org/officeDocument/2006/relationships/extended-properties" Target="/docProps/app.xml" Id="R05f63900749e450d" /><Relationship Type="http://schemas.openxmlformats.org/officeDocument/2006/relationships/officeDocument" Target="/ppt/presentation.xml" Id="R3e58f867dfdc4ab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c2f2de8383d4564"/>
  </p:sldMasterIdLst>
  <p:notesMasterIdLst>
    <p:notesMasterId xmlns:r="http://schemas.openxmlformats.org/officeDocument/2006/relationships" r:id="Ra6c3a64e2e374ab2"/>
  </p:notesMasterIdLst>
  <p:sldIdLst>
    <p:sldId xmlns:r="http://schemas.openxmlformats.org/officeDocument/2006/relationships" id="256" r:id="Rfde312104e8e418f"/>
    <p:sldId xmlns:r="http://schemas.openxmlformats.org/officeDocument/2006/relationships" id="257" r:id="Rd2ad115011294b7c"/>
    <p:sldId xmlns:r="http://schemas.openxmlformats.org/officeDocument/2006/relationships" id="258" r:id="R9dc72c17529c42da"/>
    <p:sldId xmlns:r="http://schemas.openxmlformats.org/officeDocument/2006/relationships" id="259" r:id="R6ae650de37f54b65"/>
    <p:sldId xmlns:r="http://schemas.openxmlformats.org/officeDocument/2006/relationships" id="260" r:id="R2607b0990d5c4d95"/>
    <p:sldId xmlns:r="http://schemas.openxmlformats.org/officeDocument/2006/relationships" id="261" r:id="R1e8f8bc9e13d4fb7"/>
    <p:sldId xmlns:r="http://schemas.openxmlformats.org/officeDocument/2006/relationships" id="262" r:id="Rf98e9425316e4331"/>
    <p:sldId xmlns:r="http://schemas.openxmlformats.org/officeDocument/2006/relationships" id="263" r:id="Rfb871bebd6354a81"/>
    <p:sldId xmlns:r="http://schemas.openxmlformats.org/officeDocument/2006/relationships" id="264" r:id="Rafa7de84b1ee48d2"/>
    <p:sldId xmlns:r="http://schemas.openxmlformats.org/officeDocument/2006/relationships" id="265" r:id="R03cee2fdd1894a66"/>
  </p:sldIdLst>
  <p:sldSz cx="10692384" cy="6007608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7548d14fb08430d" /><Relationship Type="http://schemas.openxmlformats.org/officeDocument/2006/relationships/slideMaster" Target="/ppt/slideMasters/slideMaster1.xml" Id="R9c2f2de8383d4564" /><Relationship Type="http://schemas.openxmlformats.org/officeDocument/2006/relationships/notesMaster" Target="/ppt/notesMasters/notesMaster1.xml" Id="Ra6c3a64e2e374ab2" /><Relationship Type="http://schemas.openxmlformats.org/officeDocument/2006/relationships/presProps" Target="/ppt/presProps.xml" Id="R43c2fcc056bd4367" /><Relationship Type="http://schemas.openxmlformats.org/officeDocument/2006/relationships/tableStyles" Target="/ppt/tableStyles.xml" Id="R454c82c1bac049b4" /><Relationship Type="http://schemas.openxmlformats.org/officeDocument/2006/relationships/slide" Target="/ppt/slides/slide1.xml" Id="Rfde312104e8e418f" /><Relationship Type="http://schemas.openxmlformats.org/officeDocument/2006/relationships/slide" Target="/ppt/slides/slide2.xml" Id="Rd2ad115011294b7c" /><Relationship Type="http://schemas.openxmlformats.org/officeDocument/2006/relationships/slide" Target="/ppt/slides/slide3.xml" Id="R9dc72c17529c42da" /><Relationship Type="http://schemas.openxmlformats.org/officeDocument/2006/relationships/slide" Target="/ppt/slides/slide4.xml" Id="R6ae650de37f54b65" /><Relationship Type="http://schemas.openxmlformats.org/officeDocument/2006/relationships/slide" Target="/ppt/slides/slide5.xml" Id="R2607b0990d5c4d95" /><Relationship Type="http://schemas.openxmlformats.org/officeDocument/2006/relationships/slide" Target="/ppt/slides/slide6.xml" Id="R1e8f8bc9e13d4fb7" /><Relationship Type="http://schemas.openxmlformats.org/officeDocument/2006/relationships/slide" Target="/ppt/slides/slide7.xml" Id="Rf98e9425316e4331" /><Relationship Type="http://schemas.openxmlformats.org/officeDocument/2006/relationships/slide" Target="/ppt/slides/slide8.xml" Id="Rfb871bebd6354a81" /><Relationship Type="http://schemas.openxmlformats.org/officeDocument/2006/relationships/slide" Target="/ppt/slides/slide9.xml" Id="Rafa7de84b1ee48d2" /><Relationship Type="http://schemas.openxmlformats.org/officeDocument/2006/relationships/slide" Target="/ppt/slides/slide10.xml" Id="R03cee2fdd1894a6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7b3763c8ef048a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f578d6090734e58" /><Relationship Type="http://schemas.openxmlformats.org/officeDocument/2006/relationships/notesMaster" Target="/ppt/notesMasters/notesMaster1.xml" Id="Rbf371e54f3d946b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770901785e9472e" /><Relationship Type="http://schemas.openxmlformats.org/officeDocument/2006/relationships/notesMaster" Target="/ppt/notesMasters/notesMaster1.xml" Id="Ra1ad666b956b48a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02741ca057049af" /><Relationship Type="http://schemas.openxmlformats.org/officeDocument/2006/relationships/notesMaster" Target="/ppt/notesMasters/notesMaster1.xml" Id="Re4949474cc8d4ec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c3f6a4c8ec4435d" /><Relationship Type="http://schemas.openxmlformats.org/officeDocument/2006/relationships/notesMaster" Target="/ppt/notesMasters/notesMaster1.xml" Id="Rd97444f0973e486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f2ab0a2cd114047" /><Relationship Type="http://schemas.openxmlformats.org/officeDocument/2006/relationships/notesMaster" Target="/ppt/notesMasters/notesMaster1.xml" Id="R24edc5efe1204ae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cfcc03cae3c4946" /><Relationship Type="http://schemas.openxmlformats.org/officeDocument/2006/relationships/notesMaster" Target="/ppt/notesMasters/notesMaster1.xml" Id="R3ac4493da82d48d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13f6512bb4c4c07" /><Relationship Type="http://schemas.openxmlformats.org/officeDocument/2006/relationships/notesMaster" Target="/ppt/notesMasters/notesMaster1.xml" Id="Ref58c5fc104a4ac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6d64dcdb7594136" /><Relationship Type="http://schemas.openxmlformats.org/officeDocument/2006/relationships/notesMaster" Target="/ppt/notesMasters/notesMaster1.xml" Id="Rbcb5c101e32a42c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ad6fe050da14b84" /><Relationship Type="http://schemas.openxmlformats.org/officeDocument/2006/relationships/notesMaster" Target="/ppt/notesMasters/notesMaster1.xml" Id="Rbee887531d1d419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3be51e16e1e43b8" /><Relationship Type="http://schemas.openxmlformats.org/officeDocument/2006/relationships/notesMaster" Target="/ppt/notesMasters/notesMaster1.xml" Id="Rd321a70f56bb424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ПРОВЕРКА API, 16.10.2026. Источники: https://api.hh.ru/openapi/specification/public ; https://api.hh.ru/openapi/redoc#tag/Otklikipriglasheniya-rabotodatelya/operation/get-negotiation-item . В официальных примерах GET /negotiations/{id} и списка откликов есть ai_assistant.neuro_response и ai_assistant.neuro_invite. Реальный авторизованный запрос от Skillaz не выполнялся; доступность для конкретного клиента, полнота, гарантии и условия оплаты не подтверждены. Источник экранов: предоставленный Presentation-Razbor-Doopros.pdf.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Позиционирование: публичная документация описывает получение результатов ИИ, но не подтверждает готовую интеграцию Skillaz. Проверить токен приложения Skillaz, доступ клиента, наличие ai_assistant в реальном отклике и продуктовый релиз. Не обещать работу в карточке до проверки.</a:t>
            </a:r>
          </a:p>
          <a:p xmlns:a="http://schemas.openxmlformats.org/drawingml/2006/main">
            <a:r>
              <a:t>Уточнения по документации hh: https://feedback.hh.ru/knowledge-base/article/033748 ; https://feedback.hh.ru/knowledge-base/article/022833 . Помощник подключается к конкретной вакансии; оба навыка включены по умолчанию. Критерии редактируемые, не закрытый справочник. 6 обязательных и 4 желательных — автоматическое выделение, не подтверждённый жёсткий лимит. При изменении портрета — переразбор с исключениями для некоторых статусов, включая ручной отказ. Доопрос касается новых откликов, не гарантирован каждому кандидату; до 3 своих вопросов, до 5 всего по инструкции. Запрос API получает результат, не запускает оценку.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ПРОВЕРКА API, 16.10.2026. Источники: https://api.hh.ru/openapi/specification/public ; https://api.hh.ru/openapi/redoc#tag/Otklikipriglasheniya-rabotodatelya/operation/get-negotiation-item . В официальных примерах GET /negotiations/{id} и списка откликов есть ai_assistant.neuro_response и ai_assistant.neuro_invite. Реальный авторизованный запрос от Skillaz не выполнялся; доступность для конкретного клиента, полнота, гарантии и условия оплаты не подтверждены. Источник экранов: предоставленный Presentation-Razbor-Doopros.pdf.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Подтверждены примеры данных neuro_response и neuro_invite. Блок найден в examples; подробной схемы ai_assistant в проверенной спецификации нет. Нужны реальные ответы API, перечень значений, nullable-поля и условия появления блока. Сокращение ручных действий — гипотеза пилота.</a:t>
            </a:r>
          </a:p>
          <a:p xmlns:a="http://schemas.openxmlformats.org/drawingml/2006/main">
            <a:r>
              <a:t>Уточнения по документации hh: https://feedback.hh.ru/knowledge-base/article/033748 ; https://feedback.hh.ru/knowledge-base/article/022833 . Помощник подключается к конкретной вакансии; оба навыка включены по умолчанию. Критерии редактируемые, не закрытый справочник. 6 обязательных и 4 желательных — автоматическое выделение, не подтверждённый жёсткий лимит. При изменении портрета — переразбор с исключениями для некоторых статусов, включая ручной отказ. Доопрос касается новых откликов, не гарантирован каждому кандидату; до 3 своих вопросов, до 5 всего по инструкции. Запрос API получает результат, не запускает оценку.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ПРОВЕРКА API, 16.10.2026. Источники: https://api.hh.ru/openapi/specification/public ; https://api.hh.ru/openapi/redoc#tag/Otklikipriglasheniya-rabotodatelya/operation/get-negotiation-item . В официальных примерах GET /negotiations/{id} и списка откликов есть ai_assistant.neuro_response и ai_assistant.neuro_invite. Реальный авторизованный запрос от Skillaz не выполнялся; доступность для конкретного клиента, полнота, гарантии и условия оплаты не подтверждены. Источник экранов: предоставленный Presentation-Razbor-Doopros.pdf.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Таблица отражает только поля официального примера API. Требуют проверки: показ результата в воронке Skillaz, работа с категориями, отображение подробного разбора, привязка вопросов к полям и автоматическое заполнение карточки. Цитата ответа в API не равна готовому структурированному полю Skillaz.</a:t>
            </a:r>
          </a:p>
          <a:p xmlns:a="http://schemas.openxmlformats.org/drawingml/2006/main">
            <a:r>
              <a:t>Уточнения по документации hh: https://feedback.hh.ru/knowledge-base/article/033748 ; https://feedback.hh.ru/knowledge-base/article/022833 . Помощник подключается к конкретной вакансии; оба навыка включены по умолчанию. Критерии редактируемые, не закрытый справочник. 6 обязательных и 4 желательных — автоматическое выделение, не подтверждённый жёсткий лимит. При изменении портрета — переразбор с исключениями для некоторых статусов, включая ручной отказ. Доопрос касается новых откликов, не гарантирован каждому кандидату; до 3 своих вопросов, до 5 всего по инструкции. Запрос API получает результат, не запускает оценку.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ПРОВЕРКА API, 16.10.2026. Источники: https://api.hh.ru/openapi/specification/public ; https://api.hh.ru/openapi/redoc#tag/Otklikipriglasheniya-rabotodatelya/operation/get-negotiation-item . В официальных примерах GET /negotiations/{id} и списка откликов есть ai_assistant.neuro_response и ai_assistant.neuro_invite. Реальный авторизованный запрос от Skillaz не выполнялся; доступность для конкретного клиента, полнота, гарантии и условия оплаты не подтверждены. Источник экранов: предоставленный Presentation-Razbor-Doopros.pdf.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НЕПОДТВЕРЖДЁННЫЕ ВОЗМОЖНОСТИ: настройка критериев и включение ИИ из Skillaz; запуск доопроса и управление вопросами через API; повторный разбор; получение уведомлений об изменении результатов. Публичные методы управления этими функциями не найдены. Отсутствие в публичной документации не исключает партнёрский API. Проверить периодичность обновлений и условия доступа.</a:t>
            </a:r>
          </a:p>
          <a:p xmlns:a="http://schemas.openxmlformats.org/drawingml/2006/main">
            <a:r>
              <a:t>Уточнения по документации hh: https://feedback.hh.ru/knowledge-base/article/033748 ; https://feedback.hh.ru/knowledge-base/article/022833 . Помощник подключается к конкретной вакансии; оба навыка включены по умолчанию. Критерии редактируемые, не закрытый справочник. 6 обязательных и 4 желательных — автоматическое выделение, не подтверждённый жёсткий лимит. При изменении портрета — переразбор с исключениями для некоторых статусов, включая ручной отказ. Доопрос касается новых откликов, не гарантирован каждому кандидату; до 3 своих вопросов, до 5 всего по инструкции. Запрос API получает результат, не запускает оценку.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ПРОВЕРКА API, 16.10.2026. Источники: https://api.hh.ru/openapi/specification/public ; https://api.hh.ru/openapi/redoc#tag/Otklikipriglasheniya-rabotodatelya/operation/get-negotiation-item . В официальных примерах GET /negotiations/{id} и списка откликов есть ai_assistant.neuro_response и ai_assistant.neuro_invite. Реальный авторизованный запрос от Skillaz не выполнялся; доступность для конкретного клиента, полнота, гарантии и условия оплаты не подтверждены. Источник экранов: предоставленный Presentation-Razbor-Doopros.pdf.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Скриншот сохранён из исходного PDF, слайд 6, как иллюстрация, а не свидетельство проверенной интеграции. Проверить наличие фильтров, счётчиков, названия категорий и сопоставление decision со статусами Skillaz. Не интерпретировать ACCEPT из примера как полный перечень категорий.</a:t>
            </a:r>
          </a:p>
          <a:p xmlns:a="http://schemas.openxmlformats.org/drawingml/2006/main">
            <a:r>
              <a:t>Уточнения по документации hh: https://feedback.hh.ru/knowledge-base/article/033748 ; https://feedback.hh.ru/knowledge-base/article/022833 . Помощник подключается к конкретной вакансии; оба навыка включены по умолчанию. Критерии редактируемые, не закрытый справочник. 6 обязательных и 4 желательных — автоматическое выделение, не подтверждённый жёсткий лимит. При изменении портрета — переразбор с исключениями для некоторых статусов, включая ручной отказ. Доопрос касается новых откликов, не гарантирован каждому кандидату; до 3 своих вопросов, до 5 всего по инструкции. Запрос API получает результат, не запускает оценку.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ПРОВЕРКА API, 16.10.2026. Источники: https://api.hh.ru/openapi/specification/public ; https://api.hh.ru/openapi/redoc#tag/Otklikipriglasheniya-rabotodatelya/operation/get-negotiation-item . В официальных примерах GET /negotiations/{id} и списка откликов есть ai_assistant.neuro_response и ai_assistant.neuro_invite. Реальный авторизованный запрос от Skillaz не выполнялся; доступность для конкретного клиента, полнота, гарантии и условия оплаты не подтверждены. Источник экранов: предоставленный Presentation-Razbor-Doopros.pdf.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Диалог на слайде иллюстративный. Подтверждены question и quote в answers_to_questions_from_employer. Требуют проверки: запуск доопроса из Skillaz, настройка вопросов через API, автоматическое заполнение полей, типизация ответов, разбор неоднозначных ответов, обработка пропусков и повторных ответов.</a:t>
            </a:r>
          </a:p>
          <a:p xmlns:a="http://schemas.openxmlformats.org/drawingml/2006/main">
            <a:r>
              <a:t>Уточнения по документации hh: https://feedback.hh.ru/knowledge-base/article/033748 ; https://feedback.hh.ru/knowledge-base/article/022833 . Помощник подключается к конкретной вакансии; оба навыка включены по умолчанию. Критерии редактируемые, не закрытый справочник. 6 обязательных и 4 желательных — автоматическое выделение, не подтверждённый жёсткий лимит. При изменении портрета — переразбор с исключениями для некоторых статусов, включая ручной отказ. Доопрос касается новых откликов, не гарантирован каждому кандидату; до 3 своих вопросов, до 5 всего по инструкции. Запрос API получает результат, не запускает оценку.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ПРОВЕРКА API, 16.10.2026. Источники: https://api.hh.ru/openapi/specification/public ; https://api.hh.ru/openapi/redoc#tag/Otklikipriglasheniya-rabotodatelya/operation/get-negotiation-item . В официальных примерах GET /negotiations/{id} и списка откликов есть ai_assistant.neuro_response и ai_assistant.neuro_invite. Реальный авторизованный запрос от Skillaz не выполнялся; доступность для конкретного клиента, полнота, гарантии и условия оплаты не подтверждены. Источник экранов: предоставленный Presentation-Razbor-Doopros.pdf.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Скриншот сохранён из исходного PDF, слайд 11. Подтверждены поля критериев is_met, explanation, source. Требуют проверки: ручная смена категории в Skillaz; синхронизация с hh; сохранение ручного решения после повторного анализа; журнал изменений, права и типы событий. Схема истории изменений удалена из основного содержания.</a:t>
            </a:r>
          </a:p>
          <a:p xmlns:a="http://schemas.openxmlformats.org/drawingml/2006/main">
            <a:r>
              <a:t>Уточнения по документации hh: https://feedback.hh.ru/knowledge-base/article/033748 ; https://feedback.hh.ru/knowledge-base/article/022833 . Помощник подключается к конкретной вакансии; оба навыка включены по умолчанию. Критерии редактируемые, не закрытый справочник. 6 обязательных и 4 желательных — автоматическое выделение, не подтверждённый жёсткий лимит. При изменении портрета — переразбор с исключениями для некоторых статусов, включая ручной отказ. Доопрос касается новых откликов, не гарантирован каждому кандидату; до 3 своих вопросов, до 5 всего по инструкции. Запрос API получает результат, не запускает оценку.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ПРОВЕРКА API, 16.10.2026. Источники: https://api.hh.ru/openapi/specification/public ; https://api.hh.ru/openapi/redoc#tag/Otklikipriglasheniya-rabotodatelya/operation/get-negotiation-item . В официальных примерах GET /negotiations/{id} и списка откликов есть ai_assistant.neuro_response и ai_assistant.neuro_invite. Реальный авторизованный запрос от Skillaz не выполнялся; доступность для конкретного клиента, полнота, гарантии и условия оплаты не подтверждены. Источник экранов: предоставленный Presentation-Razbor-Doopros.pdf.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Это план пилота, а не подтверждённый эффект. После технической проверки сравнить сопоставимые вакансии и нагрузку: работа с ИИ непосредственно в hh.ru и через Skillaz. Не приписывать интеграции общий эффект ИИ. Сэкономленные часы не равны гарантированному сокращению расходов.</a:t>
            </a:r>
          </a:p>
          <a:p xmlns:a="http://schemas.openxmlformats.org/drawingml/2006/main">
            <a:r>
              <a:t>Уточнения по документации hh: https://feedback.hh.ru/knowledge-base/article/033748 ; https://feedback.hh.ru/knowledge-base/article/022833 . Помощник подключается к конкретной вакансии; оба навыка включены по умолчанию. Критерии редактируемые, не закрытый справочник. 6 обязательных и 4 желательных — автоматическое выделение, не подтверждённый жёсткий лимит. При изменении портрета — переразбор с исключениями для некоторых статусов, включая ручной отказ. Доопрос касается новых откликов, не гарантирован каждому кандидату; до 3 своих вопросов, до 5 всего по инструкции. Запрос API получает результат, не запускает оценку.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Слайд 8 заменён с методики пилота на явную таблицу границ подтверждения. Получение данных приложением Skillaz требует проверки; методов управления через публичный API не обнаружено.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ПРОВЕРКА API, 16.10.2026. Источники: https://api.hh.ru/openapi/specification/public ; https://api.hh.ru/openapi/redoc#tag/Otklikipriglasheniya-rabotodatelya/operation/get-negotiation-item . В официальных примерах GET /negotiations/{id} и списка откликов есть ai_assistant.neuro_response и ai_assistant.neuro_invite. Реальный авторизованный запрос от Skillaz не выполнялся; доступность для конкретного клиента, полнота, гарантии и условия оплаты не подтверждены. Источник экранов: предоставленный Presentation-Razbor-Doopros.pdf.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НЕПОДТВЕРЖДЁННЫЕ УСЛОВИЯ ОПЛАТЫ: стоимость доступа к ИИ и API hh, входит ли она в тариф Skillaz, учёт уже оплаченных услуг hh, единица тарификации, лимиты, превышения, оплата доопроса, внедрение, сопровождение, SLA. Разделение на внедрение/использование/сопровождение было гипотезой предложения, не утверждённым тарифом. Условия оплаты не вынесены на слайд.</a:t>
            </a:r>
          </a:p>
          <a:p xmlns:a="http://schemas.openxmlformats.org/drawingml/2006/main">
            <a:r>
              <a:t>Уточнения по документации hh: https://feedback.hh.ru/knowledge-base/article/033748 ; https://feedback.hh.ru/knowledge-base/article/022833 . Помощник подключается к конкретной вакансии; оба навыка включены по умолчанию. Критерии редактируемые, не закрытый справочник. 6 обязательных и 4 желательных — автоматическое выделение, не подтверждённый жёсткий лимит. При изменении портрета — переразбор с исключениями для некоторых статусов, включая ручной отказ. Доопрос касается новых откликов, не гарантирован каждому кандидату; до 3 своих вопросов, до 5 всего по инструкции. Запрос API получает результат, не запускает оценку.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Слайд 9 показывает предлагаемый вариант, а не готовые возможности Skillaz. Запрос по ID отклика не содержит текст резюме; полученные данные и сам идентификатор не следует считать автоматически обезличенными. Отображение оценки и ответов в карточке требует реализации и проверки.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ПРОВЕРКА API, 16.10.2026. Источники: https://api.hh.ru/openapi/specification/public ; https://api.hh.ru/openapi/redoc#tag/Otklikipriglasheniya-rabotodatelya/operation/get-negotiation-item . В официальных примерах GET /negotiations/{id} и списка откликов есть ai_assistant.neuro_response и ai_assistant.neuro_invite. Реальный авторизованный запрос от Skillaz не выполнялся; доступность для конкретного клиента, полнота, гарантии и условия оплаты не подтверждены. Источник экранов: предоставленный Presentation-Razbor-Doopros.pdf.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Перед пилотом: получить реальный отклик с завершённым разбором и доопросом, выполнить GET /negotiations/{id} от приложения Skillaz, проверить ai_assistant и сопоставление данных. Запросить у hh документацию партнёрских методов, права, ограничения и коммерческие условия. Сроки, цена пилота, объём, ответственность и критерии приёмки не подтверждены.</a:t>
            </a:r>
          </a:p>
          <a:p xmlns:a="http://schemas.openxmlformats.org/drawingml/2006/main">
            <a:r>
              <a:t>Уточнения по документации hh: https://feedback.hh.ru/knowledge-base/article/033748 ; https://feedback.hh.ru/knowledge-base/article/022833 . Помощник подключается к конкретной вакансии; оба навыка включены по умолчанию. Критерии редактируемые, не закрытый справочник. 6 обязательных и 4 желательных — автоматическое выделение, не подтверждённый жёсткий лимит. При изменении портрета — переразбор с исключениями для некоторых статусов, включая ручной отказ. Доопрос касается новых откликов, не гарантирован каждому кандидату; до 3 своих вопросов, до 5 всего по инструкции. Запрос API получает результат, не запускает оценку.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b27cd273cb416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50d83cebee4da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9b96c5e75943d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94ebb63bc04ae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8c2a8d8d6e43f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b719d6d162429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5F1A045-CBAF-4CD5-A84C-E6C0E0F202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069238" y="2269541"/>
            <a:ext cx="8553907" cy="8677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3B6DB34-B7FB-497C-8C2F-E39FA718034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603858" y="3304184"/>
            <a:ext cx="7484669" cy="6675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84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C37E80E-0ED6-4DC7-B10C-96CF668FC1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069238" y="2503170"/>
            <a:ext cx="8553907" cy="1001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67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8861548-6651-49F2-9E53-DDF2D296EB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1447" y="467258"/>
            <a:ext cx="9489491" cy="734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9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99477C1-1A84-42E6-AAF2-C8E1128FDEF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1447" y="1668780"/>
            <a:ext cx="9489491" cy="37380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97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00254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1pPr>
            <a:lvl2pPr marL="46725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2pPr>
            <a:lvl3pPr marL="734263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3pPr>
            <a:lvl4pPr marL="100126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4pPr>
            <a:lvl5pPr marL="1268273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5pPr>
            <a:lvl6pPr marL="153527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6pPr>
            <a:lvl7pPr marL="1802282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7pPr>
            <a:lvl8pPr marL="2069287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8pPr>
            <a:lvl9pPr marL="2336292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CDBF0A6-26A6-4F19-ADFE-055B85A4D18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1447" y="467258"/>
            <a:ext cx="9489491" cy="734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9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B282A8F-0DDD-4011-9AAF-233EA7C55D3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1447" y="1668780"/>
            <a:ext cx="4410608" cy="37380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4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00254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1pPr>
            <a:lvl2pPr marL="46725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2pPr>
            <a:lvl3pPr marL="734263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3pPr>
            <a:lvl4pPr marL="100126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4pPr>
            <a:lvl5pPr marL="1268273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5pPr>
            <a:lvl6pPr marL="153527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6pPr>
            <a:lvl7pPr marL="1802282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7pPr>
            <a:lvl8pPr marL="2069287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8pPr>
            <a:lvl9pPr marL="2336292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5083456A-2175-4637-A046-DDBC92FA848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5680329" y="1668780"/>
            <a:ext cx="4410608" cy="37380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4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00254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1pPr>
            <a:lvl2pPr marL="46725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2pPr>
            <a:lvl3pPr marL="734263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3pPr>
            <a:lvl4pPr marL="100126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4pPr>
            <a:lvl5pPr marL="1268273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5pPr>
            <a:lvl6pPr marL="153527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6pPr>
            <a:lvl7pPr marL="1802282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7pPr>
            <a:lvl8pPr marL="2069287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8pPr>
            <a:lvl9pPr marL="2336292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7C74EB7-F3F8-4BF3-BF57-1FBCD3F275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1447" y="467258"/>
            <a:ext cx="9489491" cy="734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9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D381C58-676D-41E7-B53D-8AEC7B751BB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1447" y="1668780"/>
            <a:ext cx="4410608" cy="37380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97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00254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1pPr>
            <a:lvl2pPr marL="46725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2pPr>
            <a:lvl3pPr marL="734263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3pPr>
            <a:lvl4pPr marL="100126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4pPr>
            <a:lvl5pPr marL="1268273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5pPr>
            <a:lvl6pPr marL="153527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6pPr>
            <a:lvl7pPr marL="1802282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7pPr>
            <a:lvl8pPr marL="2069287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8pPr>
            <a:lvl9pPr marL="2336292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e5ddc26606949d6" /><Relationship Type="http://schemas.openxmlformats.org/officeDocument/2006/relationships/slideLayout" Target="/ppt/slideLayouts/slideLayout1.xml" Id="R9215ff60f0694d31" /><Relationship Type="http://schemas.openxmlformats.org/officeDocument/2006/relationships/slideLayout" Target="/ppt/slideLayouts/slideLayout2.xml" Id="R91d6670cde4940cb" /><Relationship Type="http://schemas.openxmlformats.org/officeDocument/2006/relationships/slideLayout" Target="/ppt/slideLayouts/slideLayout3.xml" Id="R2cc159e8d2954d4a" /><Relationship Type="http://schemas.openxmlformats.org/officeDocument/2006/relationships/slideLayout" Target="/ppt/slideLayouts/slideLayout4.xml" Id="R13d8d149a7da4d45" /><Relationship Type="http://schemas.openxmlformats.org/officeDocument/2006/relationships/slideLayout" Target="/ppt/slideLayouts/slideLayout5.xml" Id="R235aba9296e142e3" /><Relationship Type="http://schemas.openxmlformats.org/officeDocument/2006/relationships/slideLayout" Target="/ppt/slideLayouts/slideLayout6.xml" Id="R477f21c0f1da4be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215ff60f0694d31"/>
    <p:sldLayoutId xmlns:r="http://schemas.openxmlformats.org/officeDocument/2006/relationships" id="2147483650" r:id="R91d6670cde4940cb"/>
    <p:sldLayoutId xmlns:r="http://schemas.openxmlformats.org/officeDocument/2006/relationships" id="2147483651" r:id="R2cc159e8d2954d4a"/>
    <p:sldLayoutId xmlns:r="http://schemas.openxmlformats.org/officeDocument/2006/relationships" id="2147483652" r:id="R13d8d149a7da4d45"/>
    <p:sldLayoutId xmlns:r="http://schemas.openxmlformats.org/officeDocument/2006/relationships" id="2147483653" r:id="R235aba9296e142e3"/>
    <p:sldLayoutId xmlns:r="http://schemas.openxmlformats.org/officeDocument/2006/relationships" id="2147483654" r:id="R477f21c0f1da4be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be68f9681184dcc" /><Relationship Type="http://schemas.openxmlformats.org/officeDocument/2006/relationships/image" Target="/ppt/media/image.png" Id="R39cd529606614253" /><Relationship Type="http://schemas.openxmlformats.org/officeDocument/2006/relationships/notesSlide" Target="/ppt/notesSlides/notesSlide1.xml" Id="R46b7e11619c0493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de137c1b26f4b81" /><Relationship Type="http://schemas.openxmlformats.org/officeDocument/2006/relationships/image" Target="/ppt/media/image2.png" Id="R80bf39dc06034a91" /><Relationship Type="http://schemas.openxmlformats.org/officeDocument/2006/relationships/notesSlide" Target="/ppt/notesSlides/notesSlide2.xml" Id="R3fe83394c70f406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8824ef9d8e44afb" /><Relationship Type="http://schemas.openxmlformats.org/officeDocument/2006/relationships/image" Target="/ppt/media/image3.png" Id="R13c59dc1a3064d37" /><Relationship Type="http://schemas.openxmlformats.org/officeDocument/2006/relationships/notesSlide" Target="/ppt/notesSlides/notesSlide3.xml" Id="Rb36081f5277b444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ca9e5be621a4100" /><Relationship Type="http://schemas.openxmlformats.org/officeDocument/2006/relationships/image" Target="/ppt/media/image4.png" Id="Rfd933c2d2a624561" /><Relationship Type="http://schemas.openxmlformats.org/officeDocument/2006/relationships/notesSlide" Target="/ppt/notesSlides/notesSlide4.xml" Id="Re84f80f3ee5a428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adf9e80cf5c407a" /><Relationship Type="http://schemas.openxmlformats.org/officeDocument/2006/relationships/image" Target="/ppt/media/image5.png" Id="R79faf7169d5c480c" /><Relationship Type="http://schemas.openxmlformats.org/officeDocument/2006/relationships/image" Target="/ppt/media/image6.png" Id="Ra7d2b6b6b1eb4ac4" /><Relationship Type="http://schemas.openxmlformats.org/officeDocument/2006/relationships/notesSlide" Target="/ppt/notesSlides/notesSlide5.xml" Id="R3fd7e0164d94429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208dc6f7d54389" /><Relationship Type="http://schemas.openxmlformats.org/officeDocument/2006/relationships/image" Target="/ppt/media/image7.png" Id="R0b6e3a6e5aca418d" /><Relationship Type="http://schemas.openxmlformats.org/officeDocument/2006/relationships/notesSlide" Target="/ppt/notesSlides/notesSlide6.xml" Id="Rca54873810ab43c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c06882ea21442b7" /><Relationship Type="http://schemas.openxmlformats.org/officeDocument/2006/relationships/image" Target="/ppt/media/image8.png" Id="R24c216d00ce54a2a" /><Relationship Type="http://schemas.openxmlformats.org/officeDocument/2006/relationships/image" Target="/ppt/media/image9.png" Id="Rbe77fbbef33d441d" /><Relationship Type="http://schemas.openxmlformats.org/officeDocument/2006/relationships/notesSlide" Target="/ppt/notesSlides/notesSlide7.xml" Id="R595f3b90c6d74ca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1ecd84eb1e4b13" /><Relationship Type="http://schemas.openxmlformats.org/officeDocument/2006/relationships/image" Target="/ppt/media/image10.png" Id="Radafa393d8f94931" /><Relationship Type="http://schemas.openxmlformats.org/officeDocument/2006/relationships/notesSlide" Target="/ppt/notesSlides/notesSlide8.xml" Id="R78cbfa464e064ee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259497d809941dd" /><Relationship Type="http://schemas.openxmlformats.org/officeDocument/2006/relationships/image" Target="/ppt/media/image11.png" Id="R7d944180a3c24e36" /><Relationship Type="http://schemas.openxmlformats.org/officeDocument/2006/relationships/notesSlide" Target="/ppt/notesSlides/notesSlide9.xml" Id="R489da974adf448b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9b5fd59bab4ca5" /><Relationship Type="http://schemas.openxmlformats.org/officeDocument/2006/relationships/image" Target="/ppt/media/image12.png" Id="Rc18e316f86b54ff4" /><Relationship Type="http://schemas.openxmlformats.org/officeDocument/2006/relationships/notesSlide" Target="/ppt/notesSlides/notesSlide10.xml" Id="Rb15ede01a8d444e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99D45C-6920-4443-912D-3BFD4746B0D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cd529606614253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B8DDB2-5520-4E11-94AC-E4B510329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ДАННЫЕ ДЛЯ ИНТЕГРАЦИИ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0CF87A-0DA4-4F8F-82E6-1F161BA9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8465EA-EFAD-4B03-BF94-8DA4A6EE2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09B47D-1694-4DDE-A692-388CB535A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01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BD1EE7-FFF7-4D5A-8128-D8F816D88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66800"/>
            <a:ext cx="4191000" cy="408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C00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C6B426-B11E-4DEC-829B-8A1F1BE74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476375"/>
            <a:ext cx="9620250" cy="1495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4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47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ИИ в hh.ru</a:t>
            </a:r>
          </a:p>
          <a:p xmlns:a="http://schemas.openxmlformats.org/drawingml/2006/main">
            <a:pPr>
              <a:defRPr sz="4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47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Результаты для Skillaz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C6DB30-0A31-4D64-8D65-9483FFC0C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200400"/>
            <a:ext cx="93345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Базовый вариант интеграции</a:t>
            </a:r>
          </a:p>
          <a:p xmlns:a="http://schemas.openxmlformats.org/drawingml/2006/main">
            <a:pPr>
              <a:defRPr sz="2325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на основе документации hh.ru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357A85-D1AD-4C0C-A5CA-3504C8EF8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486275"/>
            <a:ext cx="3810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Нейроразбор + Доопрос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7C14A4-0998-41F1-AB89-D105AF23E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438650"/>
            <a:ext cx="5372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Настройка и запуск — в hh.ru.</a:t>
            </a:r>
          </a:p>
          <a:p xmlns:a="http://schemas.openxmlformats.org/drawingml/2006/main">
            <a: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Получение данных в Skillaz требует проверки.</a:t>
            </a:r>
          </a:p>
        </p:txBody>
      </p:sp>
    </p:spTree>
    <p:extLst>
      <p:ext uri="{BB962C8B-B14F-4D97-AF65-F5344CB8AC3E}">
        <p14:creationId xmlns:p14="http://schemas.microsoft.com/office/powerpoint/2010/main" val="6958410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760BF7-674D-4133-A9AB-74B95F18CBD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bf39dc06034a91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21DD70-0297-49CC-B4E1-5B742BA73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РАБОЧИЙ ПРОЦЕСС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51626A-1967-449D-9BB2-660B49967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866775"/>
            <a:ext cx="96964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Настройка для конкретной</a:t>
            </a:r>
          </a:p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вакансии hh.ru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3C8EAC-C0EB-4F66-AF59-6539F6269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4CC3CB-E938-4DE9-B019-3FCC3C665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E52B6B-5ABB-4C4A-8C56-DA686753D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02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670BDE-5CD0-46AE-BFBD-D49D0EEAA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190750"/>
            <a:ext cx="4572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ПОРТРЕТ КАНДИДАТА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38B1F6-15C5-4EE4-8E4F-DFB5B9A4B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590800"/>
            <a:ext cx="3714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Критерии вакансии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7E3F91-030C-4870-B939-32145CB01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105150"/>
            <a:ext cx="4286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Обязательные и желательные</a:t>
            </a:r>
          </a:p>
          <a:p xmlns:a="http://schemas.openxmlformats.org/drawingml/2006/main">
            <a: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Извлекаются из текста вакансии</a:t>
            </a:r>
          </a:p>
          <a:p xmlns:a="http://schemas.openxmlformats.org/drawingml/2006/main">
            <a: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Можно менять и добавлять свои</a:t>
            </a:r>
          </a:p>
          <a:p xmlns:a="http://schemas.openxmlformats.org/drawingml/2006/main">
            <a: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Закрытого списка требований нет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A33FF9-4D61-4118-81D3-0D36C186C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181225"/>
            <a:ext cx="190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A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A56874-4E71-4A27-A9D8-0301E8CC6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2190750"/>
            <a:ext cx="4333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ДВА НАВЫКА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235AFA-7E4A-4741-830F-B216F0655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2590800"/>
            <a:ext cx="428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Сортировка и вопросы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F282B9-9A49-4500-9BD1-B164B2643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3105150"/>
            <a:ext cx="4286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При подключении включены оба</a:t>
            </a:r>
          </a:p>
          <a:p xmlns:a="http://schemas.openxmlformats.org/drawingml/2006/main">
            <a: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Каждый можно отключить отдельно</a:t>
            </a:r>
          </a:p>
          <a:p xmlns:a="http://schemas.openxmlformats.org/drawingml/2006/main">
            <a: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Настройки выполняются в hh.ru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EE5588-AADD-4D3B-BFBD-48D003614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133975"/>
            <a:ext cx="969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Оценка относится к отклику на выбранную вакансию.</a:t>
            </a:r>
          </a:p>
        </p:txBody>
      </p:sp>
    </p:spTree>
    <p:extLst>
      <p:ext uri="{BB962C8B-B14F-4D97-AF65-F5344CB8AC3E}">
        <p14:creationId xmlns:p14="http://schemas.microsoft.com/office/powerpoint/2010/main" val="157608348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6F48ED-9B46-416D-93D5-1349E40625C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c59dc1a3064d37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4966B2-1011-4F24-A49D-34A40B465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РАЗДЕЛЕНИЕ ВОЗМОЖНОСТЕЙ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69DCC5-8D5E-4144-A61B-A924785DD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866775"/>
            <a:ext cx="96964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Результаты ИИ</a:t>
            </a:r>
          </a:p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в документации API hh.ru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27A6ED-0567-4E39-BDB3-C8C793BC0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AC477F-37E2-4119-916D-1A4B8AAED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AB787B-ECA3-408C-BB79-8BA6B11D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03 / 10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CB6615-A9B2-47C8-9C0D-E9A9F0549341}"/>
              </a:ext>
            </a:extLst>
          </p:cNvPr>
          <p:cNvGraphicFramePr/>
          <p:nvPr/>
        </p:nvGraphicFramePr>
        <p:xfrm>
          <a:off xmlns:a="http://schemas.openxmlformats.org/drawingml/2006/main" x="504825" y="2085975"/>
          <a:ext xmlns:a="http://schemas.openxmlformats.org/drawingml/2006/main" cx="9686925" cy="2647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843463"/>
                <a:gridCol w="4843463"/>
              </a:tblGrid>
              <a:tr h="529590">
                <a:tc>
                  <a:txBody>
                    <a:bodyPr lIns="114300" tIns="114300" rIns="114300" bIns="114300"/>
                    <a:lstStyle/>
                    <a:p>
                      <a:r>
                        <a:rPr sz="1500" b="1">
                          <a:solidFill>
                            <a:srgbClr val="101022"/>
                          </a:solidFill>
                          <a:latin typeface="Arial"/>
                          <a:ea typeface="Arial"/>
                          <a:cs typeface="Arial"/>
                        </a:rPr>
                        <a:t>Результат работы ИИ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T w="5715">
                      <a:solidFill>
                        <a:srgbClr val="DCDAD4"/>
                      </a:solidFill>
                      <a:prstDash val="solid"/>
                    </a:lnT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ECE9D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500" b="1">
                          <a:solidFill>
                            <a:srgbClr val="101022"/>
                          </a:solidFill>
                          <a:latin typeface="Arial"/>
                          <a:ea typeface="Arial"/>
                          <a:cs typeface="Arial"/>
                        </a:rPr>
                        <a:t>Данные в примере ответа API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T w="5715">
                      <a:solidFill>
                        <a:srgbClr val="DCDAD4"/>
                      </a:solidFill>
                      <a:prstDash val="solid"/>
                    </a:lnT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ECE9DF"/>
                    </a:solidFill>
                  </a:tcPr>
                </a:tc>
              </a:tr>
              <a:tr h="529590"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Итог разбора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Решение ИИ и краткая сводка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</a:tr>
              <a:tr h="529590"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Проверка требований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Критерии и степень выполнения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</a:tr>
              <a:tr h="529590"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Основания оценки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Объяснение и источник информации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</a:tr>
              <a:tr h="529590"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Ответы кандидата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Вопросы и цитаты ответов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2F252B-AA10-4239-875C-DF469FB73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133975"/>
            <a:ext cx="969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Публичный пример API описывает получение результатов ИИ.</a:t>
            </a:r>
          </a:p>
        </p:txBody>
      </p:sp>
    </p:spTree>
    <p:extLst>
      <p:ext uri="{BB962C8B-B14F-4D97-AF65-F5344CB8AC3E}">
        <p14:creationId xmlns:p14="http://schemas.microsoft.com/office/powerpoint/2010/main" val="150132207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0392D2-68B2-423B-9A38-EBD6FE148C0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933c2d2a624561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9EBCD3-1E7E-4DBB-A79B-CBC792C73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ПРОЦЕСС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2D5EFD-9DB1-4BE5-80DC-1327F3DA9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866775"/>
            <a:ext cx="96964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Когда запускается разбор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02E113-6B05-48FA-A50E-214FCFA75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09732A-79F6-4C98-AE99-90C7FBD19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192DA1-DBF1-4644-ACBE-AE87DDAE8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04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301FC0-8359-4E2A-B633-F70FC217D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809750"/>
            <a:ext cx="523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pPr>
            <a:r>
              <a: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613F79-84AA-4251-AD2C-BCAB7F506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80975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Подключение к вакансии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0F559D-4311-47F5-88FC-9C8FAF713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1526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hh начинает автоматически сортировать отклики этой вакансии.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AC0D07-5C5C-464F-B8F5-CC809DDB7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705100"/>
            <a:ext cx="523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pPr>
            <a:r>
              <a: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CEBD3D-521A-47AD-8B9A-EE5C9258B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7051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Новый отклик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57862D-B315-4ACC-B8E1-1FB592EC6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4800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При включённом навыке hh автоматически анализирует резюме.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7615A8-4311-49E2-A964-9A939BFAE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600450"/>
            <a:ext cx="523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pPr>
            <a:r>
              <a: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EA0063-2187-479F-8526-769DED955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0045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Изменение критериев в hh.ru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9BEE41-EF7C-4481-8433-0670D0CEB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9433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После сохранения портрета hh запускает повторную сортировку.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9B8012-25CC-4772-B57E-C70FD544D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495800"/>
            <a:ext cx="523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pPr>
            <a:r>
              <a: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20ABC7-41CD-45E1-8531-EFB76C19B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4958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Получение готового результата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56BB3D-9784-4A7C-92C5-8A2C1CF1D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3870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Запрос результата через API не запускает новый анализ.</a:t>
            </a:r>
          </a:p>
        </p:txBody>
      </p:sp>
    </p:spTree>
    <p:extLst>
      <p:ext uri="{BB962C8B-B14F-4D97-AF65-F5344CB8AC3E}">
        <p14:creationId xmlns:p14="http://schemas.microsoft.com/office/powerpoint/2010/main" val="73425929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A1FB6B-AF57-476C-A658-4F4D1583AFF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faf7169d5c480c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94FF00-66C7-4B49-99F5-26F0C47C6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НЕЙРОРАЗБОР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5F0D60-D646-4257-A86C-7ABDA54D7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866775"/>
            <a:ext cx="96964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Результат разбора и его основания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A97936-22E1-4D5D-AE11-A78062226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938F41-70D8-46BF-9ED4-CE3F88739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B08DC3-0D6A-4E21-826C-8F439BD67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05 / 10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0F6602-A5B4-42C1-99E5-AB01A4FD9D9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d2b6b6b1eb4ac4"/>
          <a:stretch xmlns:a="http://schemas.openxmlformats.org/drawingml/2006/main"/>
        </p:blipFill>
        <p:spPr>
          <a:xfrm xmlns:a="http://schemas.openxmlformats.org/drawingml/2006/main">
            <a:off x="825515" y="1905000"/>
            <a:ext cx="5807045" cy="32194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01C651-852F-48F3-AAEB-9939422C1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076450"/>
            <a:ext cx="2714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Категория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04939D-E214-44D7-BCB2-0194E2C75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457450"/>
            <a:ext cx="276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Помогает выбрать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приоритет просмотра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D9DF71-FA55-48EC-B844-0444BD02A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352800"/>
            <a:ext cx="2714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Критерии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96EA50-DFFC-4671-9020-82EACDD69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733800"/>
            <a:ext cx="276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Показывают основания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оценки кандидата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26B467-BBDB-47CE-B852-AEFF37343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219700"/>
            <a:ext cx="969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Иллюстрация из исходной презентации. Решение принимает рекрутёр.</a:t>
            </a:r>
          </a:p>
        </p:txBody>
      </p:sp>
    </p:spTree>
    <p:extLst>
      <p:ext uri="{BB962C8B-B14F-4D97-AF65-F5344CB8AC3E}">
        <p14:creationId xmlns:p14="http://schemas.microsoft.com/office/powerpoint/2010/main" val="13330122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3B0131-FA7E-48DA-8E3F-9A13E1C24AB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6e3a6e5aca418d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3FC8B4-2004-449B-9431-22CFA6E32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ДООПРОС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05A1E5-CC7E-4876-A660-7A82F7E96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866775"/>
            <a:ext cx="96964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Как включается доопрос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3299EE-4011-4731-8155-A55C7C5C0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B8C294-4DB6-4E1F-989A-D6B657190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E699A6-158D-4F9E-B512-ED03A5558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06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C15428-BAA9-48B8-AE55-EE6329CD1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343150"/>
            <a:ext cx="28860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01 · ПОДКЛЮЧЕНИЕ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47964D-9C24-424C-9FCB-23CAE4FCA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828925"/>
            <a:ext cx="2857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C00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CB6922-75C9-4D9F-B334-DA15CBCC1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152775"/>
            <a:ext cx="28670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ИИ-помощник</a:t>
            </a:r>
          </a:p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нужной вакансии</a:t>
            </a:r>
          </a:p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в hh.ru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0E1DAE-4E60-435C-A2A3-99F16FD75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343150"/>
            <a:ext cx="28860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02 · НАСТРОЙКА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61BAE9-AECA-4F85-AE79-D8062261B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28925"/>
            <a:ext cx="2857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C00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885B28-9ABA-4C5F-B93B-A2CAB1479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152775"/>
            <a:ext cx="28670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Навык «Вопросы</a:t>
            </a:r>
          </a:p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кандидату»</a:t>
            </a:r>
          </a:p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До 3 своих вопросов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9D0560-0C63-43F9-A7CC-64BBAF131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343150"/>
            <a:ext cx="28860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03 · НОВЫЙ ОТКЛИК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B8D1DB-BFAA-41D6-931D-88524C43A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828925"/>
            <a:ext cx="2857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C00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120E9B-34C0-4FCD-A0AB-E8DA50D06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3152775"/>
            <a:ext cx="28670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hh задаёт вопросы,</a:t>
            </a:r>
          </a:p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если информации</a:t>
            </a:r>
          </a:p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недостаточно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A0BD4E-CFA5-4710-8BA8-EC408017C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362450"/>
            <a:ext cx="96964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При подключении помощника навык включён по умолчанию. Всего — до 5 вопросов.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0FD8C6-35C9-4BAB-A619-FD140D72D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133975"/>
            <a:ext cx="969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Изменение настроек не запускает повторный доопрос прежних кандидатов.</a:t>
            </a:r>
          </a:p>
        </p:txBody>
      </p:sp>
    </p:spTree>
    <p:extLst>
      <p:ext uri="{BB962C8B-B14F-4D97-AF65-F5344CB8AC3E}">
        <p14:creationId xmlns:p14="http://schemas.microsoft.com/office/powerpoint/2010/main" val="47500041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8E9196-94F0-451B-93EF-69EE8F5689F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c216d00ce54a2a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E5BCA6-32AE-4C6F-8CB1-A9D8D0AB8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ОСНОВАНИЯ ОЦЕНКИ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A2E4D2-C9EF-4A03-9325-2598039EE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866775"/>
            <a:ext cx="96964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Что объясняет оценку кандидата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F0C91C-1ABA-4F46-94E1-963BE7A52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D1136D-432F-4DAD-8081-C3670B34A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E65E15-F6B0-4FDB-A11A-5A2402375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07 / 10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DB76DA-72E0-4C4D-90B8-70A6D971814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77fbbef33d441d"/>
          <a:stretch xmlns:a="http://schemas.openxmlformats.org/drawingml/2006/main"/>
        </p:blipFill>
        <p:spPr>
          <a:xfrm xmlns:a="http://schemas.openxmlformats.org/drawingml/2006/main">
            <a:off x="506214" y="2085975"/>
            <a:ext cx="5331222" cy="19240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0E89E7-44A2-4D08-9D4F-534C1870B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2481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Проверка оснований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3A3737-F9DB-47FE-9D68-F852D5708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638675"/>
            <a:ext cx="5381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Иллюстрация из исходной презентации.</a:t>
            </a:r>
          </a:p>
          <a:p xmlns:a="http://schemas.openxmlformats.org/drawingml/2006/main">
            <a: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Рекрутёр проверяет выводы ИИ.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284687-410D-4B6F-9AFC-87A0AAC06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95500"/>
            <a:ext cx="3714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ДАННЫЕ ПО КРИТЕРИЮ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CE3178-4DC2-4D70-84F8-F61B2043E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57475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15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5EC4F8-C2C3-4685-9C1D-B44FFAC4F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57475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Выполнение требования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CD37F4-35B5-4B64-B1D7-D85B82D4A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90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15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08F23F-9371-4833-A0CB-68DA0BF93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390900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Объяснение оценки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0CE4E4-4FE4-43E5-8E39-1A224F953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124325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15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D04717-FDA6-4DAB-A2BD-C7A808C85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124325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Источник информации</a:t>
            </a:r>
          </a:p>
        </p:txBody>
      </p:sp>
    </p:spTree>
    <p:extLst>
      <p:ext uri="{BB962C8B-B14F-4D97-AF65-F5344CB8AC3E}">
        <p14:creationId xmlns:p14="http://schemas.microsoft.com/office/powerpoint/2010/main" val="52833152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83C52B-982D-4631-9AC0-EE2DD5E9E47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afa393d8f94931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D7CE1E-8C4C-4B0F-9DCA-D866A6CA2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ГРАНИЦЫ ПОДТВЕРЖДЕНИЯ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28B2ED-44C0-4CF9-A89E-A7BBD8B1A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866775"/>
            <a:ext cx="96964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Что подтверждено документацией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0720BC-9A45-49DC-8D7D-F98ACC84A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F8E6D9-F77D-4680-92AE-53BD818DE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934B1F-7F68-4F4C-82DF-4FDFB2215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08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D30AC1-74AC-4E1B-B568-D4178502C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657350"/>
            <a:ext cx="9620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Документация hh описывает функции и примеры ответа API</a:t>
            </a:r>
          </a:p>
        </p:txBody>
      </p:sp>
      <p:graphicFrame>
        <p:nvGraphicFrame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EE8414-813B-44C1-98CA-380E644706F3}"/>
              </a:ext>
            </a:extLst>
          </p:cNvPr>
          <p:cNvGraphicFramePr/>
          <p:nvPr/>
        </p:nvGraphicFramePr>
        <p:xfrm>
          <a:off xmlns:a="http://schemas.openxmlformats.org/drawingml/2006/main" x="504825" y="2181225"/>
          <a:ext xmlns:a="http://schemas.openxmlformats.org/drawingml/2006/main" cx="9686925" cy="24193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810125"/>
                <a:gridCol w="2438400"/>
                <a:gridCol w="2438400"/>
              </a:tblGrid>
              <a:tr h="403225">
                <a:tc>
                  <a:txBody>
                    <a:bodyPr lIns="114300" tIns="114300" rIns="114300" bIns="114300"/>
                    <a:lstStyle/>
                    <a:p>
                      <a:r>
                        <a:rPr sz="1500" b="1">
                          <a:solidFill>
                            <a:srgbClr val="101022"/>
                          </a:solidFill>
                          <a:latin typeface="Arial"/>
                          <a:ea typeface="Arial"/>
                          <a:cs typeface="Arial"/>
                        </a:rPr>
                        <a:t>Возможность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T w="5715">
                      <a:solidFill>
                        <a:srgbClr val="DCDAD4"/>
                      </a:solidFill>
                      <a:prstDash val="solid"/>
                    </a:lnT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ECE9D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500" b="1">
                          <a:solidFill>
                            <a:srgbClr val="101022"/>
                          </a:solidFill>
                          <a:latin typeface="Arial"/>
                          <a:ea typeface="Arial"/>
                          <a:cs typeface="Arial"/>
                        </a:rPr>
                        <a:t>Где выполняется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T w="5715">
                      <a:solidFill>
                        <a:srgbClr val="DCDAD4"/>
                      </a:solidFill>
                      <a:prstDash val="solid"/>
                    </a:lnT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ECE9D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500" b="1">
                          <a:solidFill>
                            <a:srgbClr val="101022"/>
                          </a:solidFill>
                          <a:latin typeface="Arial"/>
                          <a:ea typeface="Arial"/>
                          <a:cs typeface="Arial"/>
                        </a:rPr>
                        <a:t>Статус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T w="5715">
                      <a:solidFill>
                        <a:srgbClr val="DCDAD4"/>
                      </a:solidFill>
                      <a:prstDash val="solid"/>
                    </a:lnT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ECE9DF"/>
                    </a:solidFill>
                  </a:tcPr>
                </a:tc>
              </a:tr>
              <a:tr h="403225"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Настройка критериев и вопросов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В hh.ru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Описано hh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</a:tr>
              <a:tr h="403225"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Разбор и доопрос новых откликов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В hh.ru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Описано hh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</a:tr>
              <a:tr h="403225"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Выдача оценки и ответов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API hh.ru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Пример ответа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</a:tr>
              <a:tr h="403225"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Получение данных в Skillaz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Наша интеграция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Нужен тест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</a:tr>
              <a:tr h="403225"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Запуск и настройка из Skillaz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API управления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Не подтверждено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1472227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3C0AEB-FDEF-4835-9C9E-A6500105580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944180a3c24e36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5FFBAB-2C2F-4D2D-BA95-4B42581A7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БАЗОВЫЙ ВАРИАНТ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7ECA64-03C7-40C1-A421-49D2168C7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866775"/>
            <a:ext cx="96964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Настройка в hh.ru, результаты в Skillaz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76A03D-75E5-4D3D-B55F-066BF69C9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09376F-7D92-4100-A00A-99B852DDD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91ED50-23FF-40A4-9BEA-7E9C2E821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09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A56E2C-DA3F-4283-9FF3-B426D5A2E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143125"/>
            <a:ext cx="284797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C00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C95042-39E9-4410-8A16-05798577F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447925"/>
            <a:ext cx="2857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В hh.ru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E71C64-355D-45CF-BB0C-FEF692721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067050"/>
            <a:ext cx="28670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Настройка вакансии.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Критерии и вопросы.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Автоматический разбор.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9B1787-8884-4676-A5C3-1B766143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143125"/>
            <a:ext cx="284797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C00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791B5B-A82B-4B37-B4C0-CD9DD34FF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447925"/>
            <a:ext cx="2857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Через API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0DC02E-8A37-450D-8C6A-9F1A267F9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067050"/>
            <a:ext cx="28670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Получение результата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по ID отклика.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Без отправки текста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резюме из Skillaz.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4A06E4-37A3-496B-8207-4BAE357A9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143125"/>
            <a:ext cx="284797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C00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BC9817-75FA-4C3D-BA5E-921895534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447925"/>
            <a:ext cx="2857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В Skillaz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B6625A-5CD6-458F-B516-D1951C4F5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3067050"/>
            <a:ext cx="28670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Предлагаем показывать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оценку и ответы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рядом с откликом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после проверки обмена.</a:t>
            </a:r>
          </a:p>
        </p:txBody>
      </p:sp>
    </p:spTree>
    <p:extLst>
      <p:ext uri="{BB962C8B-B14F-4D97-AF65-F5344CB8AC3E}">
        <p14:creationId xmlns:p14="http://schemas.microsoft.com/office/powerpoint/2010/main" val="55329346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DA52DF-1928-4297-84DE-303241F2B70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8e316f86b54ff4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53B8B3-7526-491B-A1FA-6854CA5C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ПИЛОТ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346983-0509-4146-9482-90F4CE368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8D0ACD-6677-4ADA-98FE-37B04145A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757A9A-CF66-4A79-8385-8EACDFD5C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10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254528-C687-4B74-A95D-388A2C299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71550"/>
            <a:ext cx="10692384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C00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44664C-FB85-46DE-BF3A-83F4CF76F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314450"/>
            <a:ext cx="9810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Сначала — проверка получения данных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8B442C-E381-471C-82ED-A15D6E67C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600325"/>
            <a:ext cx="4476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pPr>
            <a:r>
              <a: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97EE3B-4D3B-44D5-89C2-56177BDDA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00325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Вакансия hh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98CDF9-77A3-4E5D-8586-15B419EF1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600325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Включить навыки, настроить критерии и вопросы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00DF37-D240-4320-9E9E-9F7C76435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190875"/>
            <a:ext cx="4476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pPr>
            <a:r>
              <a: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D0D820-A2B9-4B43-B90E-392D4D487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190875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Новый отклик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B60299-3F69-4BCD-98C0-438C93ABA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190875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Получить разбор и ответы кандидата в hh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E370A7-D86A-42E9-9A3A-4F24F97B3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781425"/>
            <a:ext cx="4476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pPr>
            <a:r>
              <a: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D725FB-7C62-4081-9D17-01EEA9AAB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781425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Запрос API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CC4CD7-FB43-421C-9163-3C2A00A7A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781425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Проверить данные от имени приложения Skillaz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4C1CD4-4D6E-4858-8A34-19B5B1291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371975"/>
            <a:ext cx="4476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pPr>
            <a:r>
              <a: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4E396B-4727-426B-BE7B-3B88DFD1C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371975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Результат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A6D686-95BA-451D-8863-DC8AE3647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371975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Подтвердить состав данных и доступ клиента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DD6C78-AF14-4BCC-ADE5-75D4FAACE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229225"/>
            <a:ext cx="971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Реализацию и предложение клиенту фиксируем после технической проверки</a:t>
            </a:r>
          </a:p>
        </p:txBody>
      </p:sp>
    </p:spTree>
    <p:extLst>
      <p:ext uri="{BB962C8B-B14F-4D97-AF65-F5344CB8AC3E}">
        <p14:creationId xmlns:p14="http://schemas.microsoft.com/office/powerpoint/2010/main" val="152527310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2026-10-16T11:59:16.1390000Z</dcterms:created>
  <dcterms:modified xsi:type="dcterms:W3CDTF">2026-10-16T11:59:16.1390000Z</dcterms:modified>
</coreProperties>
</file>