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fbe014ee1c4218" /><Relationship Type="http://schemas.openxmlformats.org/officeDocument/2006/relationships/extended-properties" Target="/docProps/app.xml" Id="R58aada00c3044474" /><Relationship Type="http://schemas.openxmlformats.org/officeDocument/2006/relationships/officeDocument" Target="/ppt/presentation.xml" Id="R902bd930a9db46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80ef1a162e4fd3"/>
  </p:sldMasterIdLst>
  <p:notesMasterIdLst>
    <p:notesMasterId xmlns:r="http://schemas.openxmlformats.org/officeDocument/2006/relationships" r:id="Re4ae23bae7de4b63"/>
  </p:notesMasterIdLst>
  <p:sldIdLst>
    <p:sldId xmlns:r="http://schemas.openxmlformats.org/officeDocument/2006/relationships" id="256" r:id="R55a922722db346a5"/>
    <p:sldId xmlns:r="http://schemas.openxmlformats.org/officeDocument/2006/relationships" id="257" r:id="R6e4dfc543e004e9a"/>
    <p:sldId xmlns:r="http://schemas.openxmlformats.org/officeDocument/2006/relationships" id="258" r:id="R4dfaa530abcc431d"/>
    <p:sldId xmlns:r="http://schemas.openxmlformats.org/officeDocument/2006/relationships" id="259" r:id="R9c67d7ddd70b4e1c"/>
    <p:sldId xmlns:r="http://schemas.openxmlformats.org/officeDocument/2006/relationships" id="260" r:id="R7f8bf03db34045cd"/>
    <p:sldId xmlns:r="http://schemas.openxmlformats.org/officeDocument/2006/relationships" id="261" r:id="R01d53324e0794cf4"/>
    <p:sldId xmlns:r="http://schemas.openxmlformats.org/officeDocument/2006/relationships" id="262" r:id="Rf9d17afe583149e9"/>
    <p:sldId xmlns:r="http://schemas.openxmlformats.org/officeDocument/2006/relationships" id="263" r:id="R323554efdd004371"/>
    <p:sldId xmlns:r="http://schemas.openxmlformats.org/officeDocument/2006/relationships" id="264" r:id="R2327c85aee504466"/>
    <p:sldId xmlns:r="http://schemas.openxmlformats.org/officeDocument/2006/relationships" id="265" r:id="Rfb3c2faa106b4ee2"/>
  </p:sldIdLst>
  <p:sldSz cx="10692384" cy="600760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32696b512343bc" /><Relationship Type="http://schemas.openxmlformats.org/officeDocument/2006/relationships/slideMaster" Target="/ppt/slideMasters/slideMaster1.xml" Id="R6e80ef1a162e4fd3" /><Relationship Type="http://schemas.openxmlformats.org/officeDocument/2006/relationships/notesMaster" Target="/ppt/notesMasters/notesMaster1.xml" Id="Re4ae23bae7de4b63" /><Relationship Type="http://schemas.openxmlformats.org/officeDocument/2006/relationships/presProps" Target="/ppt/presProps.xml" Id="Rba4f8c3843d645bc" /><Relationship Type="http://schemas.openxmlformats.org/officeDocument/2006/relationships/tableStyles" Target="/ppt/tableStyles.xml" Id="R459e06e919ff448b" /><Relationship Type="http://schemas.openxmlformats.org/officeDocument/2006/relationships/slide" Target="/ppt/slides/slide1.xml" Id="R55a922722db346a5" /><Relationship Type="http://schemas.openxmlformats.org/officeDocument/2006/relationships/slide" Target="/ppt/slides/slide2.xml" Id="R6e4dfc543e004e9a" /><Relationship Type="http://schemas.openxmlformats.org/officeDocument/2006/relationships/slide" Target="/ppt/slides/slide3.xml" Id="R4dfaa530abcc431d" /><Relationship Type="http://schemas.openxmlformats.org/officeDocument/2006/relationships/slide" Target="/ppt/slides/slide4.xml" Id="R9c67d7ddd70b4e1c" /><Relationship Type="http://schemas.openxmlformats.org/officeDocument/2006/relationships/slide" Target="/ppt/slides/slide5.xml" Id="R7f8bf03db34045cd" /><Relationship Type="http://schemas.openxmlformats.org/officeDocument/2006/relationships/slide" Target="/ppt/slides/slide6.xml" Id="R01d53324e0794cf4" /><Relationship Type="http://schemas.openxmlformats.org/officeDocument/2006/relationships/slide" Target="/ppt/slides/slide7.xml" Id="Rf9d17afe583149e9" /><Relationship Type="http://schemas.openxmlformats.org/officeDocument/2006/relationships/slide" Target="/ppt/slides/slide8.xml" Id="R323554efdd004371" /><Relationship Type="http://schemas.openxmlformats.org/officeDocument/2006/relationships/slide" Target="/ppt/slides/slide9.xml" Id="R2327c85aee504466" /><Relationship Type="http://schemas.openxmlformats.org/officeDocument/2006/relationships/slide" Target="/ppt/slides/slide10.xml" Id="Rfb3c2faa106b4e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ee1448c10740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b9883639014de8" /><Relationship Type="http://schemas.openxmlformats.org/officeDocument/2006/relationships/notesMaster" Target="/ppt/notesMasters/notesMaster1.xml" Id="R53622f6c85b84c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84c3e9ce3c472a" /><Relationship Type="http://schemas.openxmlformats.org/officeDocument/2006/relationships/notesMaster" Target="/ppt/notesMasters/notesMaster1.xml" Id="R7eb3c50f9a8449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6e4a29febd49a7" /><Relationship Type="http://schemas.openxmlformats.org/officeDocument/2006/relationships/notesMaster" Target="/ppt/notesMasters/notesMaster1.xml" Id="R423b1142b48446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dcc196e6e94982" /><Relationship Type="http://schemas.openxmlformats.org/officeDocument/2006/relationships/notesMaster" Target="/ppt/notesMasters/notesMaster1.xml" Id="R8ac023ceeb4141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cec772162c4160" /><Relationship Type="http://schemas.openxmlformats.org/officeDocument/2006/relationships/notesMaster" Target="/ppt/notesMasters/notesMaster1.xml" Id="Rfcc7615b30454f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ad379db8034f2f" /><Relationship Type="http://schemas.openxmlformats.org/officeDocument/2006/relationships/notesMaster" Target="/ppt/notesMasters/notesMaster1.xml" Id="R1bcb0d6847e344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f3a7a1754e4167" /><Relationship Type="http://schemas.openxmlformats.org/officeDocument/2006/relationships/notesMaster" Target="/ppt/notesMasters/notesMaster1.xml" Id="R131533fe3bc04e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28a9374f0a473a" /><Relationship Type="http://schemas.openxmlformats.org/officeDocument/2006/relationships/notesMaster" Target="/ppt/notesMasters/notesMaster1.xml" Id="R665deb6e33684a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42d66c109c4153" /><Relationship Type="http://schemas.openxmlformats.org/officeDocument/2006/relationships/notesMaster" Target="/ppt/notesMasters/notesMaster1.xml" Id="R2229b9e37022465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de0d37b45e45aa" /><Relationship Type="http://schemas.openxmlformats.org/officeDocument/2006/relationships/notesMaster" Target="/ppt/notesMasters/notesMaster1.xml" Id="Rabf7999783f146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</a:t>
            </a:r>
          </a:p>
          <a:p xmlns:a="http://schemas.openxmlformats.org/drawingml/2006/main">
            <a:r>
              <a:t>Подтвердить доступность Нейроразбора и Доопроса в текущей версии, состав данных в карточке. Исходные экраны являются иллюстрациями из презентации, а не проверкой продукта.</a:t>
            </a:r>
          </a:p>
          <a:p xmlns:a="http://schemas.openxmlformats.org/drawingml/2006/main">
            <a:r>
              <a:t>Комментарий для выступления: интеграция переносит результаты ИИ-помощника hh в рабочий процесс Skillaz.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ПРОВЕРИТЬ ПЕРЕД ПУБЛИКАЦИЕЙ</a:t>
            </a:r>
          </a:p>
          <a:p xmlns:a="http://schemas.openxmlformats.org/drawingml/2006/main">
            <a:r>
              <a:t>Схема иллюстративная. Подтвердить ручные шаги у клиента и исключить операции, уже автоматизированные текущим обменом. Сокращение действий является гипотезой для пилота, а не измеренным результатом.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 hh: https://feedback.hh.ru/knowledge-base/article/022833</a:t>
            </a:r>
          </a:p>
          <a:p xmlns:a="http://schemas.openxmlformats.org/drawingml/2006/main">
            <a:r>
              <a:t>НЕПОДТВЕРЖДЁННЫЕ ВОЗМОЖНОСТИ SKILLAZ</a:t>
            </a:r>
          </a:p>
          <a:p xmlns:a="http://schemas.openxmlformats.org/drawingml/2006/main">
            <a:r>
              <a:t>Подтвердить все пункты правой колонки: категории, подробный разбор, запись ответов в предусмотренные поля. Особенно важно отличать структурированные поля от текстовой выжимки. Совпадение возможностей не подтверждает техническую архитектуру.</a:t>
            </a:r>
          </a:p>
          <a:p xmlns:a="http://schemas.openxmlformats.org/drawingml/2006/main">
            <a:r>
              <a:t>Исходная презентация: слайды 5–11.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</a:t>
            </a:r>
          </a:p>
          <a:p xmlns:a="http://schemas.openxmlformats.org/drawingml/2006/main">
            <a:r>
              <a:t>Подтвердить настройки из Skillaz, условия запуска, обновление результатов и исключения, требующие перехода в hh.ru. Скорость обмена не обещается. Доопрос относится к новым откликам согласно документации hh: https://feedback.hh.ru/knowledge-base/article/022833</a:t>
            </a:r>
          </a:p>
          <a:p xmlns:a="http://schemas.openxmlformats.org/drawingml/2006/main">
            <a:r>
              <a:t>Исходная презентация: слайды 7 и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</a:t>
            </a:r>
          </a:p>
          <a:p xmlns:a="http://schemas.openxmlformats.org/drawingml/2006/main">
            <a:r>
              <a:t>Проверить названия категорий, фильтр, счётчик и наличие цитат в текущей версии Skillaz. Экран взят из исходного PDF, слайд 6, и не является подтверждением реализации.</a:t>
            </a:r>
          </a:p>
          <a:p xmlns:a="http://schemas.openxmlformats.org/drawingml/2006/main">
            <a:r>
              <a:t>Комментарий: категория задаёт приоритет просмотра, а не окончательное решение о найме.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</a:t>
            </a:r>
          </a:p>
          <a:p xmlns:a="http://schemas.openxmlformats.org/drawingml/2006/main">
            <a:r>
              <a:t>Подтвердить список полей и формат записи, обработку неоднозначных ответов, доступ к исходному ответу. Показанный сценарий является иллюстрацией, не реальным диалогом. Если доступна только выжимка, заменить обещание заполнения поля на сохранение кратких итогов.</a:t>
            </a:r>
          </a:p>
          <a:p xmlns:a="http://schemas.openxmlformats.org/drawingml/2006/main">
            <a:r>
              <a:t>Источник возможностей hh: https://feedback.hh.ru/knowledge-base/article/022833</a:t>
            </a:r>
          </a:p>
          <a:p xmlns:a="http://schemas.openxmlformats.org/drawingml/2006/main">
            <a:r>
              <a:t>Исходная презентация: слайды 5, 12–13.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</a:t>
            </a:r>
          </a:p>
          <a:p xmlns:a="http://schemas.openxmlformats.org/drawingml/2006/main">
            <a:r>
              <a:t>Журнал изменений, типы событий, права доступа и сохранение ручной категории требуют проверки. Схема справа — пример событий, не скриншот журнала. Если журнала нет в релизе, удалить правую колонку и оставить проверку оценки и ручную корректировку.</a:t>
            </a:r>
          </a:p>
          <a:p xmlns:a="http://schemas.openxmlformats.org/drawingml/2006/main">
            <a:r>
              <a:t>Источник: исходная презентация, слайды 10–11.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МЕТОДИКА ПИЛОТА</a:t>
            </a:r>
          </a:p>
          <a:p xmlns:a="http://schemas.openxmlformats.org/drawingml/2006/main">
            <a:r>
              <a:t>Сравнивать ИИ-помощника непосредственно в hh.ru и те же возможности через Skillaz. Согласовать сопоставимые вакансии, нагрузку, период и способ замеров. Не приписывать интеграции общий эффект ИИ. Числа в таблице заполняются после пилота. Высвобождённые часы не равны автоматическому сокращению расходов.</a:t>
            </a:r>
          </a:p>
          <a:p xmlns:a="http://schemas.openxmlformats.org/drawingml/2006/main">
            <a:r>
              <a:t>Дополнительно считать долю ручных исправлений.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УСЛОВИЯ ОПЛАТЫ</a:t>
            </a:r>
          </a:p>
          <a:p xmlns:a="http://schemas.openxmlformats.org/drawingml/2006/main">
            <a:r>
              <a:t>Показана предлагаемая структура предложения, а не утверждённый тариф. До отправки клиенту подтвердить: входит ли использование ИИ hh в цену Skillaz, как учитывается уже оплаченный тариф hh, единицу тарификации, включённый объём, оплату Доопроса и превышений, состав внедрения и сопровождения, SLA. Сопровождение может входить в подписку. Цены исходной презентации не перенесены, поскольку модель оплаты не подтверждена.</a:t>
            </a:r>
          </a:p>
          <a:p xmlns:a="http://schemas.openxmlformats.org/drawingml/2006/main">
            <a:r>
              <a:t>Контекст hh на 16.10.2026: https://feedback.hh.ru/knowledge-base/article/001622374</a:t>
            </a:r>
          </a:p>
          <a:p xmlns:a="http://schemas.openxmlformats.org/drawingml/2006/main">
            <a:r>
              <a:t>ИИ-помощник входит в некоторые тарифы hh при соблюдении условий. Нельзя обещать отсутствие двойной оплаты без договорного подтверждения.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Presentation-Razbor-Doopros.pdf, предоставленная пользователем презентация Skillaz × hh.ru. Возможности интеграции описаны в исходной презентации, работоспособность не проверена.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УСЛОВИЯ ПИЛОТА ТРЕБУЮТ СОГЛАСОВАНИЯ</a:t>
            </a:r>
          </a:p>
          <a:p xmlns:a="http://schemas.openxmlformats.org/drawingml/2006/main">
            <a:r>
              <a:t>Подтвердить сроки подключения и пилота, стоимость, объём откликов, ответственность сторон и критерии приёмки. Срок «две недели» и гарантированные проценты эффекта не заявляются.</a:t>
            </a:r>
          </a:p>
          <a:p xmlns:a="http://schemas.openxmlformats.org/drawingml/2006/main">
            <a:r>
              <a:t>Результат: замеры времени, качество данных, обратная связь команды и расчёт стоимости использования.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af7deefacd47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fa3fac42a4b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bf0b9123240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436667cf0040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f4e93bffea46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ae0a4695248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19AF77-D511-49EC-BF20-1001C7B16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269541"/>
            <a:ext cx="8553907" cy="867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D70D8FF-A6C8-451E-A897-D7E2E93E52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03858" y="3304184"/>
            <a:ext cx="7484669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83225B-674C-4669-9BAA-5F4C7759D4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503170"/>
            <a:ext cx="8553907" cy="100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949310-DCAE-436A-B4B4-44EB70CEB4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3523668-00EF-4F46-BA22-F2B993EBFF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9489491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A848E67-A1E3-4833-A1C2-0773B9960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E76E690-3F44-4854-A35F-0F2D8F462F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B929FE-AF87-4513-85D5-6C9918D309D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680329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4E3675-3064-4D9B-A639-9541D33316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E27A717-B127-46FB-BA94-32EB641084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782ee6c5fa4624" /><Relationship Type="http://schemas.openxmlformats.org/officeDocument/2006/relationships/slideLayout" Target="/ppt/slideLayouts/slideLayout1.xml" Id="R14dd0df2b3004263" /><Relationship Type="http://schemas.openxmlformats.org/officeDocument/2006/relationships/slideLayout" Target="/ppt/slideLayouts/slideLayout2.xml" Id="R2f456d507a4441b4" /><Relationship Type="http://schemas.openxmlformats.org/officeDocument/2006/relationships/slideLayout" Target="/ppt/slideLayouts/slideLayout3.xml" Id="R34061a04112848e9" /><Relationship Type="http://schemas.openxmlformats.org/officeDocument/2006/relationships/slideLayout" Target="/ppt/slideLayouts/slideLayout4.xml" Id="Rc221547fcefd40ab" /><Relationship Type="http://schemas.openxmlformats.org/officeDocument/2006/relationships/slideLayout" Target="/ppt/slideLayouts/slideLayout5.xml" Id="R3c67878045d94dba" /><Relationship Type="http://schemas.openxmlformats.org/officeDocument/2006/relationships/slideLayout" Target="/ppt/slideLayouts/slideLayout6.xml" Id="Re4984de8fedc44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dd0df2b3004263"/>
    <p:sldLayoutId xmlns:r="http://schemas.openxmlformats.org/officeDocument/2006/relationships" id="2147483650" r:id="R2f456d507a4441b4"/>
    <p:sldLayoutId xmlns:r="http://schemas.openxmlformats.org/officeDocument/2006/relationships" id="2147483651" r:id="R34061a04112848e9"/>
    <p:sldLayoutId xmlns:r="http://schemas.openxmlformats.org/officeDocument/2006/relationships" id="2147483652" r:id="Rc221547fcefd40ab"/>
    <p:sldLayoutId xmlns:r="http://schemas.openxmlformats.org/officeDocument/2006/relationships" id="2147483653" r:id="R3c67878045d94dba"/>
    <p:sldLayoutId xmlns:r="http://schemas.openxmlformats.org/officeDocument/2006/relationships" id="2147483654" r:id="Re4984de8fedc44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86d2acd9304b19" /><Relationship Type="http://schemas.openxmlformats.org/officeDocument/2006/relationships/image" Target="/ppt/media/image.png" Id="R7bff0f74633d4e6a" /><Relationship Type="http://schemas.openxmlformats.org/officeDocument/2006/relationships/notesSlide" Target="/ppt/notesSlides/notesSlide1.xml" Id="R39aa30188c2547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938575e2b41c1" /><Relationship Type="http://schemas.openxmlformats.org/officeDocument/2006/relationships/image" Target="/ppt/media/image2.png" Id="R2f04d5ca89684b0c" /><Relationship Type="http://schemas.openxmlformats.org/officeDocument/2006/relationships/notesSlide" Target="/ppt/notesSlides/notesSlide2.xml" Id="R3e79257de0cd4b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52f52161584003" /><Relationship Type="http://schemas.openxmlformats.org/officeDocument/2006/relationships/image" Target="/ppt/media/image3.png" Id="R78d108b493b9416c" /><Relationship Type="http://schemas.openxmlformats.org/officeDocument/2006/relationships/notesSlide" Target="/ppt/notesSlides/notesSlide3.xml" Id="R968b6ebe288541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70d9fe2fe44c21" /><Relationship Type="http://schemas.openxmlformats.org/officeDocument/2006/relationships/image" Target="/ppt/media/image4.png" Id="Ref286c42a568426f" /><Relationship Type="http://schemas.openxmlformats.org/officeDocument/2006/relationships/notesSlide" Target="/ppt/notesSlides/notesSlide4.xml" Id="Rf3d9e736a3b14d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8f91dfda924eca" /><Relationship Type="http://schemas.openxmlformats.org/officeDocument/2006/relationships/image" Target="/ppt/media/image5.png" Id="R78f81bfd08604061" /><Relationship Type="http://schemas.openxmlformats.org/officeDocument/2006/relationships/image" Target="/ppt/media/image6.png" Id="R3cf7103db92b400d" /><Relationship Type="http://schemas.openxmlformats.org/officeDocument/2006/relationships/notesSlide" Target="/ppt/notesSlides/notesSlide5.xml" Id="Radc3d94f1ced41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083602dda44d7" /><Relationship Type="http://schemas.openxmlformats.org/officeDocument/2006/relationships/image" Target="/ppt/media/image7.png" Id="Ra4ad52ac18ce45ab" /><Relationship Type="http://schemas.openxmlformats.org/officeDocument/2006/relationships/notesSlide" Target="/ppt/notesSlides/notesSlide6.xml" Id="R9197bc9debd44b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919f3aa5694623" /><Relationship Type="http://schemas.openxmlformats.org/officeDocument/2006/relationships/image" Target="/ppt/media/image8.png" Id="R6b3203b43de04ff2" /><Relationship Type="http://schemas.openxmlformats.org/officeDocument/2006/relationships/image" Target="/ppt/media/image9.png" Id="R5a6b269a29b54b5c" /><Relationship Type="http://schemas.openxmlformats.org/officeDocument/2006/relationships/notesSlide" Target="/ppt/notesSlides/notesSlide7.xml" Id="R0ab6f551b2a140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1d9c4e836a425f" /><Relationship Type="http://schemas.openxmlformats.org/officeDocument/2006/relationships/image" Target="/ppt/media/image10.png" Id="Rafa49931017c4818" /><Relationship Type="http://schemas.openxmlformats.org/officeDocument/2006/relationships/notesSlide" Target="/ppt/notesSlides/notesSlide8.xml" Id="R16d90c42b6f041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11eaa90e754188" /><Relationship Type="http://schemas.openxmlformats.org/officeDocument/2006/relationships/image" Target="/ppt/media/image11.png" Id="R042fe9ad054b41cb" /><Relationship Type="http://schemas.openxmlformats.org/officeDocument/2006/relationships/notesSlide" Target="/ppt/notesSlides/notesSlide9.xml" Id="R61516b5a708848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95229f8ddd4695" /><Relationship Type="http://schemas.openxmlformats.org/officeDocument/2006/relationships/image" Target="/ppt/media/image12.png" Id="R8dc13fb9147742af" /><Relationship Type="http://schemas.openxmlformats.org/officeDocument/2006/relationships/notesSlide" Target="/ppt/notesSlides/notesSlide10.xml" Id="R52204180eb734a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95B6F-BDDA-4309-8CF0-DC3A056EDC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f0f74633d4e6a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5D352-939D-45A6-A62C-086D5266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ИНТЕГРАЦИЯ ДЛЯ КОМАНД ПОДБОРА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76E53-EC62-4CE8-BD77-EBB68A57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62F9C-6420-473E-BFF8-63525CEE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42A25-FC23-4484-8416-57806DE0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B2139-90BA-4AB4-A70A-1A0B60A5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4191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955E9-84EB-474A-9E27-3ABC698B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9620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ИИ-помощник hh.ru</a:t>
            </a:r>
          </a:p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Skillaz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D65E3-A831-48A9-9522-A4C83011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00400"/>
            <a:ext cx="9334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Разбор откликов и ответы кандидатов</a:t>
            </a:r>
          </a:p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 вашей воронке подбора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53A38-E9BB-47C1-8D58-51531A7E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86275"/>
            <a:ext cx="381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Нейроразбор + Доопрос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E738D-F981-4D35-B809-84CB1C0E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38650"/>
            <a:ext cx="5372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Информация для первичного отбора.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Решение о следующем этапе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1886423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D8CA94-A198-4981-B726-AE94A28BCF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04d5ca89684b0c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A10EA-0B86-49E8-BB5A-F021BC7B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РАБОЧИЙ 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07899-29FC-499F-82BA-BAECEBB0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Сколько действий занимает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обработка одного отклика?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86865-B23F-432E-A449-239ABE31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23ABE-0087-4266-B516-A7EB007C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1FB6F-D7B1-468C-8EE0-7519E985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F87A2D-C297-4C69-9E22-DB5E41B5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БЕЗ ИНТЕГРАЦИИ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CC680-D984-4B43-A12D-F080AB4A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 в hh.ru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2516B-7C1B-45DD-8718-4EB389E4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Просмотр оценки и ответов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Перенос сведений в Skillaz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Обновление карточки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Передача на следующий этап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51541-E5FD-4A6F-B3F5-F3CD1069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81225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A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54BC1-EC03-42E6-8532-9C0FE75A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90750"/>
            <a:ext cx="4333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С ИНТЕГРАЦИЕЙ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0A90C-4C79-49D4-B7F8-9EA04F50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908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 в Skillaz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5EB6F-91BE-41A1-AA00-8F40E752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Просмотр информации в карточке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Решение рекрутёра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Следующий этап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2069DD-2208-4674-9CDD-F6B5C032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Меньше ручных шагов между результатом ИИ и действием рекрутёра.</a:t>
            </a:r>
          </a:p>
        </p:txBody>
      </p:sp>
    </p:spTree>
    <p:extLst>
      <p:ext uri="{BB962C8B-B14F-4D97-AF65-F5344CB8AC3E}">
        <p14:creationId xmlns:p14="http://schemas.microsoft.com/office/powerpoint/2010/main" val="10536018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96B71-329F-4009-944A-95DD0D8F6C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108b493b9416c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4A7A13-BE08-461A-94C9-38E24A77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РАЗДЕЛЕНИЕ ВОЗМОЖНОСТЕЙ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CF5A50-B5B3-4EE4-930B-751A1004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делает hh.ru,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добавляет Skillaz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561A8-3AC0-4644-ABC1-6B98E1C2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8BADA-69D2-44CE-9975-7834040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C5211-31BB-4182-9D65-6FC88EFF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92F67-5DEB-4EE3-8AB0-673C615BD277}"/>
              </a:ext>
            </a:extLst>
          </p:cNvPr>
          <p:cNvGraphicFramePr/>
          <p:nvPr/>
        </p:nvGraphicFramePr>
        <p:xfrm>
          <a:off xmlns:a="http://schemas.openxmlformats.org/drawingml/2006/main" x="504825" y="2085975"/>
          <a:ext xmlns:a="http://schemas.openxmlformats.org/drawingml/2006/main" cx="9686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43463"/>
                <a:gridCol w="4843463"/>
              </a:tblGrid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ИИ-помощник hh.ru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Интеграция со Skillaz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Анализирует резюме по требованиям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Показывает результат в воронке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Распределяет отклики по категориям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Даёт работать с категориями в ATS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Объясняет соответствие критериям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Размещает разбор в карточке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Уточняет информацию в чате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Сохраняет ответы в поля карточки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FBFED-8EE1-4251-A873-A56E903C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Результаты ИИ доступны там, где команда ведёт подбор.</a:t>
            </a:r>
          </a:p>
        </p:txBody>
      </p:sp>
    </p:spTree>
    <p:extLst>
      <p:ext uri="{BB962C8B-B14F-4D97-AF65-F5344CB8AC3E}">
        <p14:creationId xmlns:p14="http://schemas.microsoft.com/office/powerpoint/2010/main" val="2056020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34C834-1947-4FFF-97E6-EE1B01847B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286c42a568426f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44C35-9202-44B8-B940-0C5F7E12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B860BF-F2C6-40D9-9BFE-4576C56D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От отклика до следующего этапа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9BB65-7FD7-426C-9D77-F4AA708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96CB9-6748-4941-A1E2-CF8645D0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C7848-EF8D-48B8-9348-9C686486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677DB-77C7-4FE1-852B-A01728BE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753F6-40F8-4238-AEB3-5727AED7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Требования в Skillaz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326F0-A90B-4E89-821A-839B7D18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определяет критерии и включает нужные функции.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39747-46D9-4A6A-BA2C-C035FDA2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051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F4414-75A9-4E9C-BEB0-E8B1E10D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51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Разбор и диалог в hh.ru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76D6F-1EA2-4C06-86A2-3DB672D4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ИИ сопоставляет резюме с требованиями и уточняет недостающие сведения.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CC6C9-DA07-4A7B-B678-D9542259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004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0552AF-6CDD-4E39-8AF7-74A7BA61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 в карточке Skillaz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94B842-59E1-4A3F-9337-8B460887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Интеграция передаёт оценку и ответы кандидата.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276EC-2095-4999-AD7D-6AED5BFA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958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E7FFA-F87C-4D3B-B103-C8837F85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Решение рекрутёра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23B02B-4F8A-400D-9776-8FA8AA96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проверяет информацию и выбирает следующий этап.</a:t>
            </a:r>
          </a:p>
        </p:txBody>
      </p:sp>
    </p:spTree>
    <p:extLst>
      <p:ext uri="{BB962C8B-B14F-4D97-AF65-F5344CB8AC3E}">
        <p14:creationId xmlns:p14="http://schemas.microsoft.com/office/powerpoint/2010/main" val="19118132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90C8E-B34C-48C5-AB7B-6581A47A91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81bfd08604061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B3AF7-CC5D-4EB3-97DF-E010EF0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НЕЙРОРАЗБОР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C9DA0-C231-4B70-8523-D1E112E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Сразу видно, кого рассматривать первым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FFFBC-AF62-45A6-8EB1-281EF201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F222C-07CA-4823-BE9D-4FC51B9C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0C25C-36BC-44BE-9FFA-CCD33BB0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05023-C12E-42BA-B782-DB4978E900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7103db92b400d"/>
          <a:stretch xmlns:a="http://schemas.openxmlformats.org/drawingml/2006/main"/>
        </p:blipFill>
        <p:spPr>
          <a:xfrm xmlns:a="http://schemas.openxmlformats.org/drawingml/2006/main">
            <a:off x="825515" y="1905000"/>
            <a:ext cx="5807045" cy="3219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A59CB-0D0C-4F06-A839-AB4B639D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76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Категория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EE9B73-088C-49FE-B4F7-CB6A197A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Помогает выбрать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приоритет просмотра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DBBE64-6191-4D18-8F7C-A562439D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9F6C45-9D05-4E7C-B243-78AE0EBF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Показывают основания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оценки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931F36-91EB-49A4-BE0D-DDED56D9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19700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Категория помогает ориентироваться. Решение остаётся за рекрутёром.</a:t>
            </a:r>
          </a:p>
        </p:txBody>
      </p:sp>
    </p:spTree>
    <p:extLst>
      <p:ext uri="{BB962C8B-B14F-4D97-AF65-F5344CB8AC3E}">
        <p14:creationId xmlns:p14="http://schemas.microsoft.com/office/powerpoint/2010/main" val="794746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ADD92A-5680-4606-A76F-EF6BEA8EC7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d52ac18ce45ab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A4839-C2CF-4C30-9346-B773E32E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ДООПРОС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52D26-2147-4CED-88E5-83EC2259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Ответы кандидата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становятся данными карточки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1FC46-DA05-47F3-9F9D-1AD996D7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F9218-9643-4DD6-80AC-0BDCC4A0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B15EA-5B0C-4805-B984-7C670CC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8D701-969A-4E1B-B0EB-F7D37494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ВОПРОС В ЧАТЕ HH.RU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37949-D83E-4F81-90B0-8CD256D7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4E4E2-3848-41E0-8127-A6AC77F8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«Готовы работать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 графику 2/2?»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91425-BBA0-4B4F-9B33-F634338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ОТВЕТ КАНДИДАТА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6FFD6-2CCE-470A-85DC-B79DBDAC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487EA-8BB7-4415-B566-930CE8A0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«Да, такой график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мне подходит»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8BC30-7B4E-49AB-B122-BD627873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КАРТОЧКА SKILLAZ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D0BB2-0C4B-4723-884B-BC789CFD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67BB88-E292-4D5C-8C08-BFA5F4D0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Готовность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 графику: да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99BBC-0D86-4F32-8C9B-CAA477F5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Иллюстративный пример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955DA4-7968-45E6-BFF9-B0A786C2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Меньше повторного ввода. Больше информации для следующего разговора.</a:t>
            </a:r>
          </a:p>
        </p:txBody>
      </p:sp>
    </p:spTree>
    <p:extLst>
      <p:ext uri="{BB962C8B-B14F-4D97-AF65-F5344CB8AC3E}">
        <p14:creationId xmlns:p14="http://schemas.microsoft.com/office/powerpoint/2010/main" val="7558043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825342-EEFF-4F74-8B9B-6814205B8C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203b43de04ff2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51AB6-E668-430D-B70E-8EEE274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КОНТРОЛЬ КОМАНДЫ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EFB10-400F-42DD-B78F-9728E0E1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Решения команды остаются видимыми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F2514-0A36-4FF2-9AEB-041ACF9C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C5EBE-CFC4-4A1D-B369-F1AC4E73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0EB36-940E-4FAB-BC09-03B17AE0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95BEB-6F2B-4000-8A22-4364A16C01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b269a29b54b5c"/>
          <a:stretch xmlns:a="http://schemas.openxmlformats.org/drawingml/2006/main"/>
        </p:blipFill>
        <p:spPr>
          <a:xfrm xmlns:a="http://schemas.openxmlformats.org/drawingml/2006/main">
            <a:off x="506214" y="2085975"/>
            <a:ext cx="5331222" cy="1924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81E4D-0618-4ECD-90D0-11EE23F8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Проверка и ручной выбор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88924-577B-4041-89C0-6B1BB6BB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38675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изучает основания оценки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при необходимости меняет категорию.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4D547-5E58-45C2-A3FE-A4911BFE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ИСТОРИЯ ИЗМЕНЕНИЙ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1FA1D-863E-48B9-A2C1-C0C6E695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767CF-03C1-483E-8A1E-A6155051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574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Получена оценка 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D9A68-1FBD-411D-95C9-60E389BE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954D3B-A315-4D49-A125-C838CECB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Изменена категория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9A05A6-CFE0-4889-929E-A99DBDB5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24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9AA808-AABF-4B54-9D4B-FF15FF8A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Обновлены критерии</a:t>
            </a:r>
          </a:p>
        </p:txBody>
      </p:sp>
    </p:spTree>
    <p:extLst>
      <p:ext uri="{BB962C8B-B14F-4D97-AF65-F5344CB8AC3E}">
        <p14:creationId xmlns:p14="http://schemas.microsoft.com/office/powerpoint/2010/main" val="15664744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EA993-96DE-429C-8409-C52E566096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49931017c4818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CD911-6FE8-4405-9FB4-DF4226EA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ЭФФЕКТ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4F5F7-2230-49FD-B077-5A21526B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Польза в измеримых показателях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9C5DD-D528-43E9-B3CF-48597AA6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0F6C3-F21D-4C71-B269-127C9CFF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CED23-69DD-45D3-99F8-6D7BB7B2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1DB5C-018C-4728-870E-EB4B00CF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57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Сравним работу с ИИ в hh.ru и через Skillaz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12203-D1B1-40EB-B394-0D5202794B15}"/>
              </a:ext>
            </a:extLst>
          </p:cNvPr>
          <p:cNvGraphicFramePr/>
          <p:nvPr/>
        </p:nvGraphicFramePr>
        <p:xfrm>
          <a:off xmlns:a="http://schemas.openxmlformats.org/drawingml/2006/main" x="504825" y="2181225"/>
          <a:ext xmlns:a="http://schemas.openxmlformats.org/drawingml/2006/main" cx="9686925" cy="2419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10125"/>
                <a:gridCol w="2438400"/>
                <a:gridCol w="2438400"/>
              </a:tblGrid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Показатель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До интеграции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С интеграцией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Ручное время на отклик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Перенос данных между системами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Полнота карточки кандидата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Время до следующего этапа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Доля ручных корректировок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Замер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2ED6CC-CF4E-4649-B744-CBD8FF87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86325"/>
            <a:ext cx="96869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F14DA8-2D20-43C8-927E-56A3E66C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Отклики × сэкономленные минуты ÷ 60 = высвобождённые часы</a:t>
            </a:r>
          </a:p>
        </p:txBody>
      </p:sp>
    </p:spTree>
    <p:extLst>
      <p:ext uri="{BB962C8B-B14F-4D97-AF65-F5344CB8AC3E}">
        <p14:creationId xmlns:p14="http://schemas.microsoft.com/office/powerpoint/2010/main" val="21095227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BA12A-45B5-4F78-9592-23D3B84AC7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fe9ad054b41cb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B4FBD-0E2B-478C-BF08-2D69F041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СОСТАВ ПРЕДЛОЖЕНИЯ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95550-30EC-43E5-99BF-FD8453D8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 чего складывается стоимость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97B6C-75B7-4065-8F2F-8ED9BCB0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36999-2B66-4577-AC1E-8D20B7B1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F22A3-4034-48A5-BE0F-15107266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F3FD1-E62E-49EC-8343-9F3F38C7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D98EC-AD49-40CC-B240-D4C6A134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Внедрение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72755A-6E07-4C9B-9522-AAADA243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обмена и полей.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Проверка сценариев.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Подготовка команды.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D1BCAA-254A-4DF6-A5C2-D0E2D131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A02F7-F66A-4511-B1C8-02D56022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Использование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FA82C-E3E6-4D1A-A785-E6172EDE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Результаты разбора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ответы кандидатов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 Skillaz в согласованном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объёме.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04F43-E034-4F17-A35F-9588676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FDE43-2355-4563-9AB0-ABC0766C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Сопровождение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F4CB4-2819-46D5-838B-D7BFC615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Поддержка интеграции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 условиях договора.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1621D-F9E1-4885-A448-48BDDB33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 предложении фиксируем функции, лимиты и условия доступа к ИИ hh.ru.</a:t>
            </a:r>
          </a:p>
        </p:txBody>
      </p:sp>
    </p:spTree>
    <p:extLst>
      <p:ext uri="{BB962C8B-B14F-4D97-AF65-F5344CB8AC3E}">
        <p14:creationId xmlns:p14="http://schemas.microsoft.com/office/powerpoint/2010/main" val="5883404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EAB90-704D-4B1F-89E8-FC3F4DD5A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13fb9147742af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09695-872B-4A05-90C1-82667159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ПИЛОТ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236D0-B42E-4761-B639-7FD231F4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3BA07-F3AA-4152-9B4B-61FF480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3F7F5-EC7A-49C8-A467-50E0BB85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43BD4-25EF-4184-867B-2FDFA757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71550"/>
            <a:ext cx="10692384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CE665-55F7-42FD-9AD5-5C671D4C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314450"/>
            <a:ext cx="981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Одна команда. Измеримый результат.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AA64F-34A2-4B36-8268-38FB30D6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003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72C8E-4E4A-4711-BF14-94C344B5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003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Выбор процесса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0A4A02-A007-4C4D-9F08-7EE553D9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003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Команда, вакансии и объём откликов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89849-4026-48A5-B87D-0183BB44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908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D7D75-19F6-4DD6-8991-5778CD6F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908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Подготовка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FA675-52F0-48D0-A20A-843E6EE8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908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Критерии, поля карточки и проверка обмена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165A0-CDAC-412F-93DA-583C2F63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814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F2558-290B-4B96-83C5-EB700DEB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814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Пилот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D8D18-F3BC-4F9B-98EA-0C9C70F3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814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Исходные показатели и изменения в работе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E9BF1-3980-4169-9B1F-DE911891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719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07AED6-751A-4995-9838-DF7D8D6F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719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CF39CE-2B69-4886-BC5C-E1AAB75A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719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Высвобождённое время и стоимость использования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DCDBA-A811-45A6-AFB2-F0C2C30B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292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Следующий шаг: рабочая встреча по сценарию и условиям пилота</a:t>
            </a:r>
          </a:p>
        </p:txBody>
      </p:sp>
    </p:spTree>
    <p:extLst>
      <p:ext uri="{BB962C8B-B14F-4D97-AF65-F5344CB8AC3E}">
        <p14:creationId xmlns:p14="http://schemas.microsoft.com/office/powerpoint/2010/main" val="8634920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2026-10-16T08:56:59.2890000Z</dcterms:created>
  <dcterms:modified xsi:type="dcterms:W3CDTF">2026-10-16T08:56:59.2890000Z</dcterms:modified>
</coreProperties>
</file>